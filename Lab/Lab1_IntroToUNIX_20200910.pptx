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27"/>
  </p:notesMasterIdLst>
  <p:sldIdLst>
    <p:sldId id="285" r:id="rId2"/>
    <p:sldId id="286" r:id="rId3"/>
    <p:sldId id="256" r:id="rId4"/>
    <p:sldId id="291" r:id="rId5"/>
    <p:sldId id="259" r:id="rId6"/>
    <p:sldId id="281" r:id="rId7"/>
    <p:sldId id="294" r:id="rId8"/>
    <p:sldId id="295" r:id="rId9"/>
    <p:sldId id="296" r:id="rId10"/>
    <p:sldId id="271" r:id="rId11"/>
    <p:sldId id="297" r:id="rId12"/>
    <p:sldId id="258" r:id="rId13"/>
    <p:sldId id="282" r:id="rId14"/>
    <p:sldId id="283" r:id="rId15"/>
    <p:sldId id="284" r:id="rId16"/>
    <p:sldId id="300" r:id="rId17"/>
    <p:sldId id="301" r:id="rId18"/>
    <p:sldId id="298" r:id="rId19"/>
    <p:sldId id="302" r:id="rId20"/>
    <p:sldId id="303" r:id="rId21"/>
    <p:sldId id="299" r:id="rId22"/>
    <p:sldId id="304" r:id="rId23"/>
    <p:sldId id="305" r:id="rId24"/>
    <p:sldId id="257" r:id="rId25"/>
    <p:sldId id="290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33"/>
    <p:restoredTop sz="93258" autoAdjust="0"/>
  </p:normalViewPr>
  <p:slideViewPr>
    <p:cSldViewPr snapToGrid="0" snapToObjects="1">
      <p:cViewPr varScale="1">
        <p:scale>
          <a:sx n="115" d="100"/>
          <a:sy n="115" d="100"/>
        </p:scale>
        <p:origin x="140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C06F88-7CB5-44B2-9471-B5D6DD444855}" type="datetimeFigureOut">
              <a:rPr lang="en-US" smtClean="0"/>
              <a:t>9/6/20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DF6DF5-5F1D-4501-BEA4-C3D2CAB55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50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9/6/20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9/6/20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9/6/20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9/6/20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9/6/20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9/6/20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9/6/20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9/6/20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9/6/20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9/6/20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9/6/20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B1A24CD3-204F-4468-8EE4-28A6668D006A}" type="datetimeFigureOut">
              <a:rPr lang="en-US" smtClean="0"/>
              <a:t>9/6/20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askubuntu.com/questions/642942/what-is-cat-used-for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e.surrey.ac.uk/Teaching/Unix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kingcodeschool.com/web-development-basics/a-command-line-crash-course" TargetMode="External"/><Relationship Id="rId2" Type="http://schemas.openxmlformats.org/officeDocument/2006/relationships/hyperlink" Target="https://www.codecademy.com/learn/learn-the-command-lin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avidbaumgold.com/tutorials/command-line/" TargetMode="External"/><Relationship Id="rId4" Type="http://schemas.openxmlformats.org/officeDocument/2006/relationships/hyperlink" Target="https://ryanstutorials.net/linuxtutorial/commandline.ph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§"/>
            </a:pPr>
            <a:r>
              <a:rPr lang="en-US" dirty="0"/>
              <a:t>Basics of UNIX, the Terminal, and Filesystem</a:t>
            </a:r>
          </a:p>
          <a:p>
            <a:pPr lvl="1">
              <a:buFont typeface="Wingdings" charset="2"/>
              <a:buChar char="§"/>
            </a:pPr>
            <a:r>
              <a:rPr lang="en-US" dirty="0"/>
              <a:t>Using the terminal</a:t>
            </a:r>
          </a:p>
          <a:p>
            <a:pPr lvl="1">
              <a:buFont typeface="Wingdings" charset="2"/>
              <a:buChar char="§"/>
            </a:pPr>
            <a:r>
              <a:rPr lang="en-US" dirty="0"/>
              <a:t>Filesystem and Paths</a:t>
            </a:r>
          </a:p>
          <a:p>
            <a:pPr lvl="1">
              <a:buFont typeface="Wingdings" charset="2"/>
              <a:buChar char="§"/>
            </a:pPr>
            <a:r>
              <a:rPr lang="en-US" dirty="0"/>
              <a:t>Basic commands on the terminal</a:t>
            </a:r>
          </a:p>
          <a:p>
            <a:pPr lvl="1">
              <a:buFont typeface="Wingdings" charset="2"/>
              <a:buChar char="§"/>
            </a:pPr>
            <a:r>
              <a:rPr lang="en-US" dirty="0"/>
              <a:t>Practice examples</a:t>
            </a:r>
          </a:p>
          <a:p>
            <a:pPr lvl="1">
              <a:buFont typeface="Wingdings" charset="2"/>
              <a:buChar char="§"/>
            </a:pPr>
            <a:endParaRPr lang="en-US" dirty="0"/>
          </a:p>
          <a:p>
            <a:pPr>
              <a:buFont typeface="Wingdings" charset="2"/>
              <a:buChar char="§"/>
            </a:pPr>
            <a:endParaRPr lang="en-US" dirty="0"/>
          </a:p>
          <a:p>
            <a:pPr>
              <a:buFont typeface="Wingdings" charset="2"/>
              <a:buChar char="§"/>
            </a:pPr>
            <a:r>
              <a:rPr lang="en-US" dirty="0"/>
              <a:t>Note: NO FORMAL LAB REPORT IS DUE FOR THIS LAB</a:t>
            </a:r>
          </a:p>
        </p:txBody>
      </p:sp>
    </p:spTree>
    <p:extLst>
      <p:ext uri="{BB962C8B-B14F-4D97-AF65-F5344CB8AC3E}">
        <p14:creationId xmlns:p14="http://schemas.microsoft.com/office/powerpoint/2010/main" val="1013256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868"/>
            <a:ext cx="7620000" cy="1143000"/>
          </a:xfrm>
        </p:spPr>
        <p:txBody>
          <a:bodyPr/>
          <a:lstStyle/>
          <a:p>
            <a:r>
              <a:rPr lang="en-US" sz="4000" dirty="0">
                <a:solidFill>
                  <a:srgbClr val="00B050"/>
                </a:solidFill>
              </a:rPr>
              <a:t>Assignment/Homework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 formal lab report due for Today’s lab.</a:t>
            </a:r>
            <a:br>
              <a:rPr lang="en-US" dirty="0"/>
            </a:br>
            <a:endParaRPr lang="en-US" dirty="0"/>
          </a:p>
          <a:p>
            <a:r>
              <a:rPr lang="en-US" dirty="0"/>
              <a:t>Please complete and submit the Lab 1 Worksheet (available through Canvas). The lab report is due </a:t>
            </a:r>
            <a:r>
              <a:rPr lang="en-US" b="1" i="1" dirty="0"/>
              <a:t>Sept 17, 2020.</a:t>
            </a:r>
          </a:p>
          <a:p>
            <a:endParaRPr lang="en-US" b="1" i="1" dirty="0"/>
          </a:p>
          <a:p>
            <a:r>
              <a:rPr lang="en-US" dirty="0"/>
              <a:t>Please remember to also complete the Assignment for Lab 2 </a:t>
            </a:r>
            <a:r>
              <a:rPr lang="en-US" b="1" i="1" dirty="0"/>
              <a:t>BEFORE </a:t>
            </a:r>
            <a:r>
              <a:rPr lang="en-US" dirty="0"/>
              <a:t>the lab on Tuesday, Sept. 24, 2019. This directions for this assignment are posted on Canvas. </a:t>
            </a:r>
            <a:r>
              <a:rPr lang="en-US" b="1" dirty="0"/>
              <a:t>DO NOT SUBMIT YOUR MRI SAFETY SCREENING FORM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117304" y="1230868"/>
            <a:ext cx="1959767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Due Sept. 17, 2020</a:t>
            </a:r>
          </a:p>
        </p:txBody>
      </p:sp>
    </p:spTree>
    <p:extLst>
      <p:ext uri="{BB962C8B-B14F-4D97-AF65-F5344CB8AC3E}">
        <p14:creationId xmlns:p14="http://schemas.microsoft.com/office/powerpoint/2010/main" val="859729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44" y="1986568"/>
            <a:ext cx="5458968" cy="1282620"/>
          </a:xfrm>
        </p:spPr>
        <p:txBody>
          <a:bodyPr>
            <a:normAutofit/>
          </a:bodyPr>
          <a:lstStyle/>
          <a:p>
            <a:r>
              <a:rPr lang="en-US" sz="3600" dirty="0"/>
              <a:t>Getting Started: Basic UNIX</a:t>
            </a:r>
          </a:p>
        </p:txBody>
      </p:sp>
    </p:spTree>
    <p:extLst>
      <p:ext uri="{BB962C8B-B14F-4D97-AF65-F5344CB8AC3E}">
        <p14:creationId xmlns:p14="http://schemas.microsoft.com/office/powerpoint/2010/main" val="2580778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1612C-E0A4-5545-9F2A-40E6474D9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1: Introduction to Unix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D1BE6-885E-9E41-A73A-25700D24A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Unix is a command line interface operating system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Instead of “pointing and clicking” with a mouse, with Unix, you type commands into a terminal to run specific processes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90050B-2693-1040-90EA-EBFD881DB57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90" y="3429000"/>
            <a:ext cx="3921444" cy="3108827"/>
          </a:xfrm>
          <a:prstGeom prst="rect">
            <a:avLst/>
          </a:prstGeom>
          <a:ln w="50800">
            <a:solidFill>
              <a:srgbClr val="FF00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C514FF-0674-BE4F-87B5-B5EB7F0AD99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955" y="3429000"/>
            <a:ext cx="3947013" cy="3108827"/>
          </a:xfrm>
          <a:prstGeom prst="rect">
            <a:avLst/>
          </a:prstGeom>
          <a:ln w="60325">
            <a:solidFill>
              <a:srgbClr val="0432FF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252743-642A-BA4D-BD95-B83B99D71EA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176" b="55334"/>
          <a:stretch/>
        </p:blipFill>
        <p:spPr>
          <a:xfrm>
            <a:off x="4378644" y="3429000"/>
            <a:ext cx="3953325" cy="2081287"/>
          </a:xfrm>
          <a:prstGeom prst="rect">
            <a:avLst/>
          </a:prstGeom>
          <a:ln w="60325">
            <a:noFill/>
          </a:ln>
        </p:spPr>
      </p:pic>
    </p:spTree>
    <p:extLst>
      <p:ext uri="{BB962C8B-B14F-4D97-AF65-F5344CB8AC3E}">
        <p14:creationId xmlns:p14="http://schemas.microsoft.com/office/powerpoint/2010/main" val="31221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Terminal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What is a terminal?</a:t>
            </a:r>
          </a:p>
          <a:p>
            <a:pPr lvl="1"/>
            <a:r>
              <a:rPr lang="en-US" dirty="0"/>
              <a:t>Text-based, command line interface</a:t>
            </a:r>
          </a:p>
          <a:p>
            <a:pPr lvl="1"/>
            <a:r>
              <a:rPr lang="en-US" dirty="0"/>
              <a:t>Basic navigator for using the network/computer and accessing the files, programs, and software necessary for research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Instead of “pointing and clicking” with a mouse, you type commands into a terminal to run specific processes</a:t>
            </a:r>
            <a:br>
              <a:rPr lang="en-US" dirty="0"/>
            </a:br>
            <a:r>
              <a:rPr lang="en-US" dirty="0"/>
              <a:t> </a:t>
            </a:r>
          </a:p>
          <a:p>
            <a:r>
              <a:rPr lang="en-US" dirty="0"/>
              <a:t>Learning the command line takes practice, but as you become more proficient, it will allow you to be quicker and more efficient when processing and analyzing data.</a:t>
            </a:r>
            <a:br>
              <a:rPr lang="en-US" dirty="0"/>
            </a:br>
            <a:endParaRPr lang="en-US" dirty="0"/>
          </a:p>
          <a:p>
            <a:r>
              <a:rPr lang="en-US" dirty="0"/>
              <a:t>Many of the software packages that will be used throughout the class (AFNI, FSL, MRTRIX) were developed to be used with the command line….we will use it throughout the course.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751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Filesystem and Directory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35616"/>
            <a:ext cx="7620000" cy="4358783"/>
          </a:xfrm>
        </p:spPr>
        <p:txBody>
          <a:bodyPr/>
          <a:lstStyle/>
          <a:p>
            <a:r>
              <a:rPr lang="en-US" dirty="0"/>
              <a:t>Like other Operating Systems (e.g. macOS or Windows), Unix organizes files and folders into a directory structure.</a:t>
            </a:r>
          </a:p>
          <a:p>
            <a:r>
              <a:rPr lang="en-US" dirty="0"/>
              <a:t>Understanding this directory structure and being able to navigate the directory structure via the Terminal will be important.</a:t>
            </a:r>
          </a:p>
          <a:p>
            <a:r>
              <a:rPr lang="en-US" dirty="0"/>
              <a:t>Files in Unix System are organized into multi-level hierarchy structure known as a directory tree.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2E3B8F-F04B-3548-99D9-377FA0BFC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501" y="4146137"/>
            <a:ext cx="4596699" cy="25483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A37F8C-F06E-844B-9B22-496C18D67EA4}"/>
              </a:ext>
            </a:extLst>
          </p:cNvPr>
          <p:cNvSpPr txBox="1"/>
          <p:nvPr/>
        </p:nvSpPr>
        <p:spPr>
          <a:xfrm>
            <a:off x="806532" y="5097167"/>
            <a:ext cx="26739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Example of a Directory Structure</a:t>
            </a:r>
          </a:p>
          <a:p>
            <a:pPr algn="ctr"/>
            <a:endParaRPr lang="en-US" dirty="0"/>
          </a:p>
          <a:p>
            <a:pPr algn="ctr"/>
            <a:r>
              <a:rPr lang="en-US" dirty="0" err="1"/>
              <a:t>geeksforgeeks.org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465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Filesystem and Directory Structure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AFD5EFE-DB3D-6343-B260-DF367D561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5616"/>
            <a:ext cx="7620000" cy="4358783"/>
          </a:xfrm>
        </p:spPr>
        <p:txBody>
          <a:bodyPr/>
          <a:lstStyle/>
          <a:p>
            <a:r>
              <a:rPr lang="en-US" dirty="0"/>
              <a:t>At the very top of the file system is a directory called “root” which is represented by a “/”.</a:t>
            </a:r>
          </a:p>
          <a:p>
            <a:r>
              <a:rPr lang="en-US" dirty="0"/>
              <a:t> All other folder and files are “descendants” of root.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3BB863-8DA0-F34C-ACD5-9C8CEEE4C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62" y="2957959"/>
            <a:ext cx="6771675" cy="37541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B8E9C2-133F-C340-9233-24581354E2FF}"/>
              </a:ext>
            </a:extLst>
          </p:cNvPr>
          <p:cNvSpPr txBox="1"/>
          <p:nvPr/>
        </p:nvSpPr>
        <p:spPr>
          <a:xfrm>
            <a:off x="4456090" y="2957959"/>
            <a:ext cx="774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root</a:t>
            </a:r>
          </a:p>
        </p:txBody>
      </p:sp>
    </p:spTree>
    <p:extLst>
      <p:ext uri="{BB962C8B-B14F-4D97-AF65-F5344CB8AC3E}">
        <p14:creationId xmlns:p14="http://schemas.microsoft.com/office/powerpoint/2010/main" val="3675705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the Filesystem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AFD5EFE-DB3D-6343-B260-DF367D561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5616"/>
            <a:ext cx="7620000" cy="4358783"/>
          </a:xfrm>
        </p:spPr>
        <p:txBody>
          <a:bodyPr/>
          <a:lstStyle/>
          <a:p>
            <a:r>
              <a:rPr lang="en-US" dirty="0"/>
              <a:t>Navigating the directory structure is analogous to “pointing and clicking” on a folder on your Desktop or Documents folder and seeing what’s inside. </a:t>
            </a:r>
          </a:p>
          <a:p>
            <a:r>
              <a:rPr lang="en-US" dirty="0"/>
              <a:t>The difference, is that we need to use the Terminal, and therefore commands for doing this. NO MOUSE!</a:t>
            </a:r>
          </a:p>
          <a:p>
            <a:r>
              <a:rPr lang="en-US" dirty="0"/>
              <a:t>The following commands will be used to navigate the filesystem:</a:t>
            </a:r>
          </a:p>
          <a:p>
            <a:pPr lvl="2"/>
            <a:r>
              <a:rPr lang="en-US" dirty="0">
                <a:solidFill>
                  <a:srgbClr val="0432FF"/>
                </a:solidFill>
              </a:rPr>
              <a:t>cd </a:t>
            </a:r>
            <a:r>
              <a:rPr lang="en-US" dirty="0"/>
              <a:t>– ’</a:t>
            </a:r>
            <a:r>
              <a:rPr lang="en-US" dirty="0" err="1"/>
              <a:t>c’hange</a:t>
            </a:r>
            <a:r>
              <a:rPr lang="en-US" dirty="0"/>
              <a:t> ‘</a:t>
            </a:r>
            <a:r>
              <a:rPr lang="en-US" dirty="0" err="1"/>
              <a:t>d’irectory</a:t>
            </a:r>
            <a:endParaRPr lang="en-US" dirty="0"/>
          </a:p>
          <a:p>
            <a:pPr lvl="2"/>
            <a:r>
              <a:rPr lang="en-US" dirty="0">
                <a:solidFill>
                  <a:srgbClr val="0432FF"/>
                </a:solidFill>
              </a:rPr>
              <a:t>ls</a:t>
            </a:r>
            <a:r>
              <a:rPr lang="en-US" dirty="0"/>
              <a:t> – list (e.g. list contents of current folder/directory)</a:t>
            </a:r>
          </a:p>
          <a:p>
            <a:pPr lvl="2"/>
            <a:r>
              <a:rPr lang="en-US" dirty="0" err="1">
                <a:solidFill>
                  <a:srgbClr val="0432FF"/>
                </a:solidFill>
              </a:rPr>
              <a:t>pwd</a:t>
            </a:r>
            <a:r>
              <a:rPr lang="en-US" dirty="0"/>
              <a:t> – print working directory (e.g. show your current location in the filesystem)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589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36E43-1D6A-BB41-B05A-DBDE99BA5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the Filesystem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9A91-AA38-CE48-BF58-9E9D3D55D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it out!</a:t>
            </a:r>
          </a:p>
          <a:p>
            <a:pPr lvl="1"/>
            <a:r>
              <a:rPr lang="en-US" dirty="0"/>
              <a:t>Open your terminal within your virtual machine </a:t>
            </a:r>
          </a:p>
          <a:p>
            <a:pPr lvl="1"/>
            <a:r>
              <a:rPr lang="en-US" dirty="0"/>
              <a:t>Try typing the following commands:</a:t>
            </a:r>
          </a:p>
          <a:p>
            <a:pPr lvl="2"/>
            <a:r>
              <a:rPr lang="en-US" dirty="0"/>
              <a:t>Type </a:t>
            </a:r>
            <a:r>
              <a:rPr lang="en-US" dirty="0" err="1">
                <a:solidFill>
                  <a:srgbClr val="0432FF"/>
                </a:solidFill>
              </a:rPr>
              <a:t>pwd</a:t>
            </a:r>
            <a:r>
              <a:rPr lang="en-US" i="1" dirty="0"/>
              <a:t> </a:t>
            </a:r>
            <a:r>
              <a:rPr lang="en-US" dirty="0"/>
              <a:t> into the terminal and note the output.</a:t>
            </a:r>
          </a:p>
          <a:p>
            <a:pPr lvl="2"/>
            <a:r>
              <a:rPr lang="en-US" dirty="0"/>
              <a:t>Type </a:t>
            </a:r>
            <a:r>
              <a:rPr lang="en-US" dirty="0">
                <a:solidFill>
                  <a:srgbClr val="0432FF"/>
                </a:solidFill>
              </a:rPr>
              <a:t>ls</a:t>
            </a:r>
            <a:r>
              <a:rPr lang="en-US" dirty="0"/>
              <a:t> into the terminal and note the output.</a:t>
            </a:r>
          </a:p>
          <a:p>
            <a:pPr lvl="2"/>
            <a:r>
              <a:rPr lang="en-US" dirty="0"/>
              <a:t>Type </a:t>
            </a:r>
            <a:r>
              <a:rPr lang="en-US" dirty="0">
                <a:solidFill>
                  <a:srgbClr val="0432FF"/>
                </a:solidFill>
              </a:rPr>
              <a:t>cd ~/Desktop </a:t>
            </a:r>
            <a:r>
              <a:rPr lang="en-US" dirty="0"/>
              <a:t>followed by </a:t>
            </a:r>
            <a:r>
              <a:rPr lang="en-US" dirty="0">
                <a:solidFill>
                  <a:srgbClr val="0432FF"/>
                </a:solidFill>
              </a:rPr>
              <a:t>ls. </a:t>
            </a:r>
            <a:r>
              <a:rPr lang="en-US" dirty="0"/>
              <a:t>How did the output change?</a:t>
            </a:r>
          </a:p>
          <a:p>
            <a:pPr lvl="2"/>
            <a:r>
              <a:rPr lang="en-US" dirty="0"/>
              <a:t>Type </a:t>
            </a:r>
            <a:r>
              <a:rPr lang="en-US" dirty="0">
                <a:solidFill>
                  <a:srgbClr val="0432FF"/>
                </a:solidFill>
              </a:rPr>
              <a:t>cd .. f</a:t>
            </a:r>
            <a:r>
              <a:rPr lang="en-US" dirty="0"/>
              <a:t>ollowed by </a:t>
            </a:r>
            <a:r>
              <a:rPr lang="en-US" dirty="0" err="1">
                <a:solidFill>
                  <a:srgbClr val="0432FF"/>
                </a:solidFill>
              </a:rPr>
              <a:t>pwd</a:t>
            </a:r>
            <a:r>
              <a:rPr lang="en-US" dirty="0">
                <a:solidFill>
                  <a:srgbClr val="0432FF"/>
                </a:solidFill>
              </a:rPr>
              <a:t>. </a:t>
            </a:r>
            <a:r>
              <a:rPr lang="en-US" dirty="0"/>
              <a:t>How did the output change? What do you think this command did?</a:t>
            </a:r>
          </a:p>
          <a:p>
            <a:pPr marL="777240" lvl="2" indent="0">
              <a:buNone/>
            </a:pPr>
            <a:endParaRPr lang="en-US" dirty="0"/>
          </a:p>
          <a:p>
            <a:r>
              <a:rPr lang="en-US" dirty="0">
                <a:solidFill>
                  <a:srgbClr val="0432FF"/>
                </a:solidFill>
              </a:rPr>
              <a:t>cd</a:t>
            </a:r>
            <a:r>
              <a:rPr lang="en-US" dirty="0"/>
              <a:t>, </a:t>
            </a:r>
            <a:r>
              <a:rPr lang="en-US" dirty="0" err="1">
                <a:solidFill>
                  <a:srgbClr val="0432FF"/>
                </a:solidFill>
              </a:rPr>
              <a:t>pwd</a:t>
            </a:r>
            <a:r>
              <a:rPr lang="en-US" dirty="0"/>
              <a:t>, and </a:t>
            </a:r>
            <a:r>
              <a:rPr lang="en-US" dirty="0">
                <a:solidFill>
                  <a:srgbClr val="0432FF"/>
                </a:solidFill>
              </a:rPr>
              <a:t>ls</a:t>
            </a:r>
            <a:r>
              <a:rPr lang="en-US" dirty="0"/>
              <a:t> are only 3 commands that you will likely use all the time.</a:t>
            </a:r>
          </a:p>
          <a:p>
            <a:r>
              <a:rPr lang="en-US" dirty="0"/>
              <a:t>But there are many, many others…</a:t>
            </a:r>
          </a:p>
        </p:txBody>
      </p:sp>
    </p:spTree>
    <p:extLst>
      <p:ext uri="{BB962C8B-B14F-4D97-AF65-F5344CB8AC3E}">
        <p14:creationId xmlns:p14="http://schemas.microsoft.com/office/powerpoint/2010/main" val="1066233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UNIX Commands Review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1854158"/>
              </p:ext>
            </p:extLst>
          </p:nvPr>
        </p:nvGraphicFramePr>
        <p:xfrm>
          <a:off x="457200" y="1600200"/>
          <a:ext cx="76200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ls &lt;file&gt;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</a:t>
                      </a:r>
                      <a:r>
                        <a:rPr lang="en-US" baseline="0" dirty="0"/>
                        <a:t> contents of directory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mkdir</a:t>
                      </a:r>
                      <a:r>
                        <a:rPr lang="en-US" dirty="0"/>
                        <a:t> &lt;</a:t>
                      </a:r>
                      <a:r>
                        <a:rPr lang="en-US" dirty="0" err="1"/>
                        <a:t>new_directory</a:t>
                      </a:r>
                      <a:r>
                        <a:rPr lang="en-US" dirty="0"/>
                        <a:t>&gt;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Make a new</a:t>
                      </a:r>
                      <a:r>
                        <a:rPr lang="en-US" baseline="0" dirty="0"/>
                        <a:t> directory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cd &lt;path&gt;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Change directory to ‘path’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pwd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Print current directory 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cp</a:t>
                      </a:r>
                      <a:r>
                        <a:rPr lang="en-US" baseline="0" dirty="0"/>
                        <a:t> &lt;file1&gt; &lt;file2&gt;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Copy</a:t>
                      </a:r>
                      <a:r>
                        <a:rPr lang="en-US" baseline="0" dirty="0"/>
                        <a:t> ‘file1’ and call it ‘file2’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rm</a:t>
                      </a:r>
                      <a:r>
                        <a:rPr lang="en-US" dirty="0"/>
                        <a:t> &lt;file(s)&gt;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Remove 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rmdir</a:t>
                      </a:r>
                      <a:r>
                        <a:rPr lang="en-US" dirty="0"/>
                        <a:t> &lt;</a:t>
                      </a:r>
                      <a:r>
                        <a:rPr lang="en-US" dirty="0" err="1"/>
                        <a:t>empty_directory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Remove directory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 &lt;file&gt;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Concatenate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mv</a:t>
                      </a:r>
                      <a:r>
                        <a:rPr lang="en-US" baseline="0" dirty="0"/>
                        <a:t> &lt;file1&gt; &lt;file2&gt;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Move or</a:t>
                      </a:r>
                      <a:r>
                        <a:rPr lang="en-US" baseline="0" dirty="0"/>
                        <a:t> rename ‘file1’ to ‘file2’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ssh</a:t>
                      </a:r>
                      <a:r>
                        <a:rPr lang="en-US" dirty="0"/>
                        <a:t> –Y </a:t>
                      </a:r>
                      <a:r>
                        <a:rPr lang="en-US" dirty="0" err="1"/>
                        <a:t>username@server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 into</a:t>
                      </a:r>
                      <a:r>
                        <a:rPr lang="en-US" baseline="0" dirty="0"/>
                        <a:t> ‘server’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gedit</a:t>
                      </a:r>
                      <a:r>
                        <a:rPr lang="en-US" dirty="0"/>
                        <a:t> &lt;file&gt;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 and edit file (text or </a:t>
                      </a:r>
                      <a:r>
                        <a:rPr lang="en-US" dirty="0" err="1"/>
                        <a:t>csv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417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36E43-1D6A-BB41-B05A-DBDE99BA5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UNIX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9A91-AA38-CE48-BF58-9E9D3D55D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5562"/>
            <a:ext cx="7620000" cy="5257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Try it out!</a:t>
            </a:r>
          </a:p>
          <a:p>
            <a:pPr lvl="1"/>
            <a:r>
              <a:rPr lang="en-US" dirty="0"/>
              <a:t>Try typing the following commands:</a:t>
            </a:r>
          </a:p>
          <a:p>
            <a:pPr lvl="2"/>
            <a:r>
              <a:rPr lang="en-US" dirty="0"/>
              <a:t>Navigate to your Desktop directory by typing  </a:t>
            </a:r>
            <a:r>
              <a:rPr lang="en-US" dirty="0">
                <a:solidFill>
                  <a:srgbClr val="0432FF"/>
                </a:solidFill>
              </a:rPr>
              <a:t>cd ~/Desktop</a:t>
            </a:r>
          </a:p>
          <a:p>
            <a:pPr lvl="2"/>
            <a:r>
              <a:rPr lang="en-US" dirty="0"/>
              <a:t>Type </a:t>
            </a:r>
            <a:r>
              <a:rPr lang="en-US" dirty="0">
                <a:solidFill>
                  <a:srgbClr val="0432FF"/>
                </a:solidFill>
              </a:rPr>
              <a:t>ls</a:t>
            </a:r>
            <a:r>
              <a:rPr lang="en-US" dirty="0"/>
              <a:t> and note the output.</a:t>
            </a:r>
            <a:endParaRPr lang="en-US" dirty="0">
              <a:solidFill>
                <a:srgbClr val="0432FF"/>
              </a:solidFill>
            </a:endParaRPr>
          </a:p>
          <a:p>
            <a:pPr lvl="2"/>
            <a:r>
              <a:rPr lang="en-US" dirty="0"/>
              <a:t>Use the </a:t>
            </a:r>
            <a:r>
              <a:rPr lang="en-US" dirty="0" err="1">
                <a:solidFill>
                  <a:srgbClr val="0432FF"/>
                </a:solidFill>
              </a:rPr>
              <a:t>mkdir</a:t>
            </a:r>
            <a:r>
              <a:rPr lang="en-US" dirty="0"/>
              <a:t> command to create a new directory called “Test” on your Desktop.</a:t>
            </a:r>
          </a:p>
          <a:p>
            <a:pPr lvl="2"/>
            <a:r>
              <a:rPr lang="en-US" dirty="0"/>
              <a:t>Type </a:t>
            </a:r>
            <a:r>
              <a:rPr lang="en-US" dirty="0">
                <a:solidFill>
                  <a:srgbClr val="0432FF"/>
                </a:solidFill>
              </a:rPr>
              <a:t>ls</a:t>
            </a:r>
            <a:r>
              <a:rPr lang="en-US" dirty="0"/>
              <a:t>. How did the output change?</a:t>
            </a:r>
          </a:p>
          <a:p>
            <a:pPr lvl="2"/>
            <a:r>
              <a:rPr lang="en-US" dirty="0"/>
              <a:t>Delete ‘Test’ using the </a:t>
            </a:r>
            <a:r>
              <a:rPr lang="en-US" dirty="0" err="1">
                <a:solidFill>
                  <a:srgbClr val="0432FF"/>
                </a:solidFill>
              </a:rPr>
              <a:t>rmdir</a:t>
            </a:r>
            <a:r>
              <a:rPr lang="en-US" dirty="0"/>
              <a:t> command by typing </a:t>
            </a:r>
            <a:r>
              <a:rPr lang="en-US" dirty="0" err="1">
                <a:solidFill>
                  <a:srgbClr val="0432FF"/>
                </a:solidFill>
              </a:rPr>
              <a:t>rmdir</a:t>
            </a:r>
            <a:r>
              <a:rPr lang="en-US" dirty="0">
                <a:solidFill>
                  <a:srgbClr val="0432FF"/>
                </a:solidFill>
              </a:rPr>
              <a:t> Test. </a:t>
            </a:r>
            <a:r>
              <a:rPr lang="en-US" dirty="0"/>
              <a:t>Type </a:t>
            </a:r>
            <a:r>
              <a:rPr lang="en-US" dirty="0">
                <a:solidFill>
                  <a:srgbClr val="0432FF"/>
                </a:solidFill>
              </a:rPr>
              <a:t>ls</a:t>
            </a:r>
            <a:r>
              <a:rPr lang="en-US" dirty="0"/>
              <a:t>. How did the output change?</a:t>
            </a:r>
          </a:p>
          <a:p>
            <a:r>
              <a:rPr lang="en-US" dirty="0"/>
              <a:t>Becoming comfortable with the the command line and directory structure does take practice. </a:t>
            </a:r>
          </a:p>
          <a:p>
            <a:r>
              <a:rPr lang="en-US" dirty="0"/>
              <a:t>You can practice these skills with many tutorials that are openly available online. </a:t>
            </a:r>
          </a:p>
          <a:p>
            <a:r>
              <a:rPr lang="en-US" dirty="0"/>
              <a:t>We list a few of these tutorials at the end of this lab and highly   recommend  you completing these to practice using the Terminal</a:t>
            </a:r>
          </a:p>
        </p:txBody>
      </p:sp>
    </p:spTree>
    <p:extLst>
      <p:ext uri="{BB962C8B-B14F-4D97-AF65-F5344CB8AC3E}">
        <p14:creationId xmlns:p14="http://schemas.microsoft.com/office/powerpoint/2010/main" val="607827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Useful UNIX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you need quick help with the usage and available options of a command, simply type the command name followed by            ‘ --help’ into the command line</a:t>
            </a:r>
          </a:p>
          <a:p>
            <a:pPr lvl="1"/>
            <a:r>
              <a:rPr lang="en-US" dirty="0"/>
              <a:t>Ex: </a:t>
            </a:r>
            <a:r>
              <a:rPr lang="en-US" dirty="0" err="1">
                <a:solidFill>
                  <a:srgbClr val="0432FF"/>
                </a:solidFill>
              </a:rPr>
              <a:t>rm</a:t>
            </a:r>
            <a:r>
              <a:rPr lang="en-US" dirty="0">
                <a:solidFill>
                  <a:srgbClr val="0432FF"/>
                </a:solidFill>
              </a:rPr>
              <a:t> --help</a:t>
            </a:r>
          </a:p>
          <a:p>
            <a:pPr lvl="2"/>
            <a:r>
              <a:rPr lang="en-US" dirty="0"/>
              <a:t>This will list the usage and options available for the command ‘</a:t>
            </a:r>
            <a:r>
              <a:rPr lang="en-US" dirty="0" err="1"/>
              <a:t>rm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The web may also be useful in finding help with commands</a:t>
            </a:r>
          </a:p>
          <a:p>
            <a:r>
              <a:rPr lang="en-US" dirty="0"/>
              <a:t>A great way to create and view a text file is using the application </a:t>
            </a:r>
            <a:r>
              <a:rPr lang="en-US" dirty="0" err="1"/>
              <a:t>Gedit</a:t>
            </a:r>
            <a:r>
              <a:rPr lang="en-US" dirty="0"/>
              <a:t>, a simple text editor.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To open and edit a text file or comma-separated file:</a:t>
            </a:r>
          </a:p>
          <a:p>
            <a:pPr lvl="2"/>
            <a:r>
              <a:rPr lang="en-US" dirty="0" err="1">
                <a:solidFill>
                  <a:srgbClr val="0432FF"/>
                </a:solidFill>
              </a:rPr>
              <a:t>gedit</a:t>
            </a:r>
            <a:r>
              <a:rPr lang="en-US" dirty="0">
                <a:solidFill>
                  <a:srgbClr val="0432FF"/>
                </a:solidFill>
              </a:rPr>
              <a:t> </a:t>
            </a:r>
            <a:r>
              <a:rPr lang="en-US" dirty="0" err="1">
                <a:solidFill>
                  <a:srgbClr val="0432FF"/>
                </a:solidFill>
              </a:rPr>
              <a:t>subjects.txt</a:t>
            </a:r>
            <a:r>
              <a:rPr lang="en-US" dirty="0">
                <a:solidFill>
                  <a:srgbClr val="0432FF"/>
                </a:solidFill>
              </a:rPr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934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UNIX tips &amp; tricks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7620000" cy="5440362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>
                <a:solidFill>
                  <a:srgbClr val="0432FF"/>
                </a:solidFill>
              </a:rPr>
              <a:t>‘Tab’ completion </a:t>
            </a:r>
            <a:r>
              <a:rPr lang="en-US" dirty="0"/>
              <a:t>– hitting the ‘Tab’ key after typing the beginning of a file or directory will auto-complete filename or directory name up until the point where it is ambiguous. </a:t>
            </a:r>
          </a:p>
          <a:p>
            <a:r>
              <a:rPr lang="en-US" dirty="0"/>
              <a:t>Pressing ‘Tab’ twice will list options starting with the text you already typed.</a:t>
            </a:r>
          </a:p>
          <a:p>
            <a:r>
              <a:rPr lang="en-US" dirty="0"/>
              <a:t>Try it Out!</a:t>
            </a:r>
          </a:p>
          <a:p>
            <a:pPr lvl="1"/>
            <a:r>
              <a:rPr lang="en-US" dirty="0"/>
              <a:t>Navigate to your Desktop directory by typing  </a:t>
            </a:r>
            <a:r>
              <a:rPr lang="en-US" dirty="0">
                <a:solidFill>
                  <a:srgbClr val="0432FF"/>
                </a:solidFill>
              </a:rPr>
              <a:t>cd ~/Desktop</a:t>
            </a:r>
          </a:p>
          <a:p>
            <a:pPr lvl="1"/>
            <a:r>
              <a:rPr lang="en-US" dirty="0"/>
              <a:t>Create 4 new directories,</a:t>
            </a:r>
            <a:r>
              <a:rPr lang="en-US" dirty="0">
                <a:solidFill>
                  <a:srgbClr val="0432FF"/>
                </a:solidFill>
              </a:rPr>
              <a:t> ‘Apple’, ‘Test’, ‘Test1’, ‘Tiger’ </a:t>
            </a:r>
            <a:r>
              <a:rPr lang="en-US" dirty="0"/>
              <a:t>using the command</a:t>
            </a:r>
            <a:r>
              <a:rPr lang="en-US" dirty="0">
                <a:solidFill>
                  <a:srgbClr val="0432FF"/>
                </a:solidFill>
              </a:rPr>
              <a:t> </a:t>
            </a:r>
            <a:r>
              <a:rPr lang="en-US" dirty="0" err="1">
                <a:solidFill>
                  <a:srgbClr val="0432FF"/>
                </a:solidFill>
              </a:rPr>
              <a:t>mkdir</a:t>
            </a:r>
            <a:endParaRPr lang="en-US" dirty="0">
              <a:solidFill>
                <a:srgbClr val="0432FF"/>
              </a:solidFill>
            </a:endParaRPr>
          </a:p>
          <a:p>
            <a:pPr lvl="1"/>
            <a:r>
              <a:rPr lang="en-US" dirty="0"/>
              <a:t>Navigate to the ‘Apple’ directory. Type</a:t>
            </a:r>
            <a:r>
              <a:rPr lang="en-US" dirty="0">
                <a:solidFill>
                  <a:srgbClr val="0432FF"/>
                </a:solidFill>
              </a:rPr>
              <a:t> cd A </a:t>
            </a:r>
            <a:r>
              <a:rPr lang="en-US" dirty="0"/>
              <a:t>and then press </a:t>
            </a:r>
            <a:r>
              <a:rPr lang="en-US" dirty="0">
                <a:solidFill>
                  <a:srgbClr val="0432FF"/>
                </a:solidFill>
              </a:rPr>
              <a:t>‘Tab’. </a:t>
            </a:r>
            <a:r>
              <a:rPr lang="en-US" dirty="0"/>
              <a:t>What happened? Go back to the Desktop with </a:t>
            </a:r>
            <a:r>
              <a:rPr lang="en-US" dirty="0">
                <a:solidFill>
                  <a:srgbClr val="0432FF"/>
                </a:solidFill>
              </a:rPr>
              <a:t>cd ..</a:t>
            </a:r>
          </a:p>
          <a:p>
            <a:pPr lvl="1"/>
            <a:r>
              <a:rPr lang="en-US" dirty="0"/>
              <a:t>Navigate to the ‘Tiger’ directory. Type </a:t>
            </a:r>
            <a:r>
              <a:rPr lang="en-US" dirty="0">
                <a:solidFill>
                  <a:srgbClr val="0432FF"/>
                </a:solidFill>
              </a:rPr>
              <a:t>cd T</a:t>
            </a:r>
            <a:r>
              <a:rPr lang="en-US" dirty="0"/>
              <a:t> and then press </a:t>
            </a:r>
            <a:r>
              <a:rPr lang="en-US" dirty="0">
                <a:solidFill>
                  <a:srgbClr val="0432FF"/>
                </a:solidFill>
              </a:rPr>
              <a:t>‘Tab’</a:t>
            </a:r>
            <a:r>
              <a:rPr lang="en-US" dirty="0"/>
              <a:t>. What happens? What happens if you press </a:t>
            </a:r>
            <a:r>
              <a:rPr lang="en-US" dirty="0">
                <a:solidFill>
                  <a:srgbClr val="0432FF"/>
                </a:solidFill>
              </a:rPr>
              <a:t>‘Tab’</a:t>
            </a:r>
            <a:r>
              <a:rPr lang="en-US" dirty="0"/>
              <a:t> two consecutive times. What happens? Add ‘</a:t>
            </a:r>
            <a:r>
              <a:rPr lang="en-US" dirty="0" err="1">
                <a:solidFill>
                  <a:srgbClr val="0432FF"/>
                </a:solidFill>
              </a:rPr>
              <a:t>i</a:t>
            </a:r>
            <a:r>
              <a:rPr lang="en-US" dirty="0"/>
              <a:t>’ to your command and press </a:t>
            </a:r>
            <a:r>
              <a:rPr lang="en-US" dirty="0">
                <a:solidFill>
                  <a:srgbClr val="0432FF"/>
                </a:solidFill>
              </a:rPr>
              <a:t>‘Tab’ </a:t>
            </a:r>
            <a:r>
              <a:rPr lang="en-US" dirty="0"/>
              <a:t>two times. What happens this time? Go back to the Desktop with </a:t>
            </a:r>
            <a:r>
              <a:rPr lang="en-US" dirty="0">
                <a:solidFill>
                  <a:srgbClr val="0432FF"/>
                </a:solidFill>
              </a:rPr>
              <a:t>cd ..</a:t>
            </a:r>
            <a:endParaRPr lang="en-US" dirty="0"/>
          </a:p>
          <a:p>
            <a:pPr lvl="1"/>
            <a:r>
              <a:rPr lang="en-US" dirty="0"/>
              <a:t>Navigate to the ‘Test1’ directory. Type cd T and press </a:t>
            </a:r>
            <a:r>
              <a:rPr lang="en-US" dirty="0">
                <a:solidFill>
                  <a:srgbClr val="0432FF"/>
                </a:solidFill>
              </a:rPr>
              <a:t>‘Tab’</a:t>
            </a:r>
            <a:r>
              <a:rPr lang="en-US" dirty="0"/>
              <a:t> two consecutive times. What happens? Add ‘</a:t>
            </a:r>
            <a:r>
              <a:rPr lang="en-US" dirty="0">
                <a:solidFill>
                  <a:srgbClr val="0432FF"/>
                </a:solidFill>
              </a:rPr>
              <a:t>e</a:t>
            </a:r>
            <a:r>
              <a:rPr lang="en-US" dirty="0"/>
              <a:t>’ to your command and press </a:t>
            </a:r>
            <a:r>
              <a:rPr lang="en-US" dirty="0">
                <a:solidFill>
                  <a:srgbClr val="0432FF"/>
                </a:solidFill>
              </a:rPr>
              <a:t>‘Tab’ </a:t>
            </a:r>
            <a:r>
              <a:rPr lang="en-US" dirty="0"/>
              <a:t>two times. What happens this time? Add ‘</a:t>
            </a:r>
            <a:r>
              <a:rPr lang="en-US" dirty="0" err="1">
                <a:solidFill>
                  <a:srgbClr val="0432FF"/>
                </a:solidFill>
              </a:rPr>
              <a:t>st</a:t>
            </a:r>
            <a:r>
              <a:rPr lang="en-US" dirty="0"/>
              <a:t>’ to your command and press </a:t>
            </a:r>
            <a:r>
              <a:rPr lang="en-US" dirty="0">
                <a:solidFill>
                  <a:srgbClr val="0432FF"/>
                </a:solidFill>
              </a:rPr>
              <a:t>‘Tab’ </a:t>
            </a:r>
            <a:r>
              <a:rPr lang="en-US" dirty="0"/>
              <a:t>two times. What happens this time? </a:t>
            </a:r>
          </a:p>
          <a:p>
            <a:pPr lvl="1"/>
            <a:r>
              <a:rPr lang="en-US" dirty="0"/>
              <a:t>Navigate back to the Desktop and remove the 4 directories that you created.</a:t>
            </a:r>
          </a:p>
        </p:txBody>
      </p:sp>
    </p:spTree>
    <p:extLst>
      <p:ext uri="{BB962C8B-B14F-4D97-AF65-F5344CB8AC3E}">
        <p14:creationId xmlns:p14="http://schemas.microsoft.com/office/powerpoint/2010/main" val="1809507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UNIX tips &amp; tricks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0432FF"/>
                </a:solidFill>
              </a:rPr>
              <a:t>Wild cards</a:t>
            </a:r>
            <a:r>
              <a:rPr lang="en-US" dirty="0"/>
              <a:t>: You can use symbols (“wildcards”) to have the UNIX shell expand the list to multiple files or directories.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*</a:t>
            </a:r>
            <a:r>
              <a:rPr lang="en-US" dirty="0"/>
              <a:t>  - everything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?</a:t>
            </a:r>
            <a:r>
              <a:rPr lang="en-US" dirty="0"/>
              <a:t>  - one character</a:t>
            </a:r>
          </a:p>
          <a:p>
            <a:pPr lvl="1"/>
            <a:endParaRPr lang="en-US" dirty="0"/>
          </a:p>
          <a:p>
            <a:r>
              <a:rPr lang="en-US" dirty="0"/>
              <a:t>E.g.: </a:t>
            </a:r>
          </a:p>
          <a:p>
            <a:pPr lvl="1"/>
            <a:r>
              <a:rPr lang="en-US" dirty="0">
                <a:solidFill>
                  <a:srgbClr val="0432FF"/>
                </a:solidFill>
              </a:rPr>
              <a:t>ls *</a:t>
            </a:r>
            <a:r>
              <a:rPr lang="en-US" dirty="0"/>
              <a:t>   - lists all files and directories</a:t>
            </a:r>
          </a:p>
          <a:p>
            <a:pPr lvl="1"/>
            <a:r>
              <a:rPr lang="en-US" dirty="0">
                <a:solidFill>
                  <a:srgbClr val="0432FF"/>
                </a:solidFill>
              </a:rPr>
              <a:t>ls f*</a:t>
            </a:r>
            <a:r>
              <a:rPr lang="en-US" dirty="0"/>
              <a:t>  - lists all files and directories starting with ’f’</a:t>
            </a:r>
          </a:p>
          <a:p>
            <a:pPr lvl="1"/>
            <a:r>
              <a:rPr lang="en-US" dirty="0">
                <a:solidFill>
                  <a:srgbClr val="0432FF"/>
                </a:solidFill>
              </a:rPr>
              <a:t>ls </a:t>
            </a:r>
            <a:r>
              <a:rPr lang="en-US" dirty="0" err="1">
                <a:solidFill>
                  <a:srgbClr val="0432FF"/>
                </a:solidFill>
              </a:rPr>
              <a:t>fMRI_Lab</a:t>
            </a:r>
            <a:r>
              <a:rPr lang="en-US" dirty="0">
                <a:solidFill>
                  <a:srgbClr val="0432FF"/>
                </a:solidFill>
              </a:rPr>
              <a:t>? </a:t>
            </a:r>
            <a:r>
              <a:rPr lang="en-US" dirty="0"/>
              <a:t>– lists all files and directories starting with ’</a:t>
            </a:r>
            <a:r>
              <a:rPr lang="en-US" dirty="0" err="1"/>
              <a:t>fMRI_Lab</a:t>
            </a:r>
            <a:r>
              <a:rPr lang="en-US" dirty="0"/>
              <a:t>’ and containing a single character following this string. (e.g. it will show fMRI_Lab1, fMRI_Lab2, but not fMRI_Lab10)</a:t>
            </a:r>
          </a:p>
          <a:p>
            <a:pPr lvl="1"/>
            <a:r>
              <a:rPr lang="en-US" dirty="0">
                <a:solidFill>
                  <a:srgbClr val="0432FF"/>
                </a:solidFill>
              </a:rPr>
              <a:t>cd f*1 </a:t>
            </a:r>
            <a:r>
              <a:rPr lang="en-US" dirty="0"/>
              <a:t>– will change into the directory starting with ‘f’ and ending with ‘1’. </a:t>
            </a:r>
            <a:r>
              <a:rPr lang="en-US" sz="1800" dirty="0"/>
              <a:t>(N.B.: If more than one directory or file match this pattern, you will get an error, since the ‘cd’ command expects only one argument.)</a:t>
            </a:r>
          </a:p>
        </p:txBody>
      </p:sp>
    </p:spTree>
    <p:extLst>
      <p:ext uri="{BB962C8B-B14F-4D97-AF65-F5344CB8AC3E}">
        <p14:creationId xmlns:p14="http://schemas.microsoft.com/office/powerpoint/2010/main" val="1281344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UNIX tips &amp; tricks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432FF"/>
                </a:solidFill>
              </a:rPr>
              <a:t>↑ &lt;up arrow&gt;, ↓ &lt;down arrow&gt;:</a:t>
            </a:r>
          </a:p>
          <a:p>
            <a:pPr lvl="1"/>
            <a:r>
              <a:rPr lang="en-US" sz="1600" dirty="0"/>
              <a:t>Goes to the previously used commands</a:t>
            </a:r>
          </a:p>
          <a:p>
            <a:r>
              <a:rPr lang="en-US" sz="1800" b="1" dirty="0">
                <a:solidFill>
                  <a:srgbClr val="0432FF"/>
                </a:solidFill>
              </a:rPr>
              <a:t>Ctrl–A</a:t>
            </a:r>
            <a:r>
              <a:rPr lang="en-US" sz="1800" dirty="0"/>
              <a:t> – go to the beginning of the line</a:t>
            </a:r>
          </a:p>
          <a:p>
            <a:r>
              <a:rPr lang="en-US" sz="1800" b="1" dirty="0">
                <a:solidFill>
                  <a:srgbClr val="0432FF"/>
                </a:solidFill>
              </a:rPr>
              <a:t>Ctrl–E</a:t>
            </a:r>
            <a:r>
              <a:rPr lang="en-US" sz="1800" dirty="0"/>
              <a:t> – go to the end of the line</a:t>
            </a:r>
          </a:p>
          <a:p>
            <a:pPr marL="11430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94472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CB7E0-C6D2-D249-9C04-897B9406C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Filesystem Paths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DD42-4BDE-F446-8E8B-AB94A7C9A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“path” refers to the </a:t>
            </a:r>
            <a:r>
              <a:rPr lang="en-US" b="1" dirty="0"/>
              <a:t>location</a:t>
            </a:r>
            <a:r>
              <a:rPr lang="en-US" dirty="0"/>
              <a:t> of the file on the filesystem. For example: </a:t>
            </a:r>
            <a:r>
              <a:rPr lang="en-US" dirty="0">
                <a:solidFill>
                  <a:srgbClr val="00B050"/>
                </a:solidFill>
              </a:rPr>
              <a:t>/home/neuro/Desktop </a:t>
            </a:r>
            <a:r>
              <a:rPr lang="en-US" dirty="0"/>
              <a:t>refers to the “path” of the Desktop folder on the </a:t>
            </a:r>
            <a:r>
              <a:rPr lang="en-US" dirty="0" err="1"/>
              <a:t>Virtualbox</a:t>
            </a:r>
            <a:r>
              <a:rPr lang="en-US" dirty="0"/>
              <a:t> virtual machine. </a:t>
            </a:r>
          </a:p>
          <a:p>
            <a:r>
              <a:rPr lang="en-US" dirty="0"/>
              <a:t>The path </a:t>
            </a:r>
            <a:r>
              <a:rPr lang="en-US" dirty="0">
                <a:solidFill>
                  <a:srgbClr val="00B050"/>
                </a:solidFill>
              </a:rPr>
              <a:t>/home/neuro/Desktop/</a:t>
            </a:r>
            <a:r>
              <a:rPr lang="en-US" dirty="0" err="1">
                <a:solidFill>
                  <a:srgbClr val="00B050"/>
                </a:solidFill>
              </a:rPr>
              <a:t>Document.docx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is the path to a Word Document called “</a:t>
            </a:r>
            <a:r>
              <a:rPr lang="en-US" dirty="0" err="1"/>
              <a:t>Document.docx</a:t>
            </a:r>
            <a:r>
              <a:rPr lang="en-US" dirty="0"/>
              <a:t>” on the Desktop</a:t>
            </a:r>
          </a:p>
          <a:p>
            <a:r>
              <a:rPr lang="en-US" dirty="0"/>
              <a:t>A path is made up of two parts: the directory and filename. In the example: </a:t>
            </a:r>
            <a:r>
              <a:rPr lang="en-US" dirty="0">
                <a:solidFill>
                  <a:srgbClr val="00B050"/>
                </a:solidFill>
              </a:rPr>
              <a:t>/home/neuro/Desktop/</a:t>
            </a:r>
            <a:r>
              <a:rPr lang="en-US" dirty="0" err="1">
                <a:solidFill>
                  <a:srgbClr val="00B050"/>
                </a:solidFill>
              </a:rPr>
              <a:t>Document.docx</a:t>
            </a:r>
            <a:r>
              <a:rPr lang="en-US" dirty="0">
                <a:solidFill>
                  <a:srgbClr val="00B050"/>
                </a:solidFill>
              </a:rPr>
              <a:t> </a:t>
            </a:r>
          </a:p>
          <a:p>
            <a:pPr lvl="1"/>
            <a:r>
              <a:rPr lang="en-US" dirty="0"/>
              <a:t>The directory of this path is:</a:t>
            </a:r>
            <a:r>
              <a:rPr lang="en-US" dirty="0">
                <a:solidFill>
                  <a:srgbClr val="00B050"/>
                </a:solidFill>
              </a:rPr>
              <a:t> /home/neuro/Desktop</a:t>
            </a:r>
          </a:p>
          <a:p>
            <a:pPr lvl="1"/>
            <a:r>
              <a:rPr lang="en-US" dirty="0"/>
              <a:t>The filename of this path is: </a:t>
            </a:r>
            <a:r>
              <a:rPr lang="en-US" dirty="0" err="1">
                <a:solidFill>
                  <a:srgbClr val="00B050"/>
                </a:solidFill>
              </a:rPr>
              <a:t>Document.docx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34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CB7E0-C6D2-D249-9C04-897B9406C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Filesystem Paths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DD42-4BDE-F446-8E8B-AB94A7C9A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5161208"/>
          </a:xfrm>
        </p:spPr>
        <p:txBody>
          <a:bodyPr>
            <a:normAutofit/>
          </a:bodyPr>
          <a:lstStyle/>
          <a:p>
            <a:r>
              <a:rPr lang="en-US" dirty="0"/>
              <a:t>Your home directory refers to the location: </a:t>
            </a:r>
            <a:r>
              <a:rPr lang="en-US" dirty="0">
                <a:solidFill>
                  <a:srgbClr val="00B050"/>
                </a:solidFill>
              </a:rPr>
              <a:t>/home/neuro</a:t>
            </a:r>
          </a:p>
          <a:p>
            <a:r>
              <a:rPr lang="en-US" dirty="0"/>
              <a:t>By default, this is the path that you are initially at when you first open a Terminal.</a:t>
            </a:r>
          </a:p>
          <a:p>
            <a:r>
              <a:rPr lang="en-US" dirty="0"/>
              <a:t>UNIX provides a shortcut for your “home” directory:</a:t>
            </a:r>
          </a:p>
          <a:p>
            <a:pPr lvl="1"/>
            <a:r>
              <a:rPr lang="en-US" dirty="0">
                <a:solidFill>
                  <a:srgbClr val="0432FF"/>
                </a:solidFill>
              </a:rPr>
              <a:t>~</a:t>
            </a:r>
            <a:r>
              <a:rPr lang="en-US" dirty="0"/>
              <a:t> – can be used as a shortcut to your home directory</a:t>
            </a:r>
          </a:p>
          <a:p>
            <a:pPr lvl="1"/>
            <a:r>
              <a:rPr lang="en-US" dirty="0"/>
              <a:t>Therefore, you can navigate to your home directory two ways:</a:t>
            </a:r>
          </a:p>
          <a:p>
            <a:pPr lvl="2"/>
            <a:r>
              <a:rPr lang="en-US" dirty="0">
                <a:solidFill>
                  <a:srgbClr val="0432FF"/>
                </a:solidFill>
              </a:rPr>
              <a:t>cd /home/neuro</a:t>
            </a:r>
          </a:p>
          <a:p>
            <a:pPr lvl="2"/>
            <a:r>
              <a:rPr lang="en-US" dirty="0">
                <a:solidFill>
                  <a:srgbClr val="0432FF"/>
                </a:solidFill>
              </a:rPr>
              <a:t>cd ~</a:t>
            </a:r>
          </a:p>
          <a:p>
            <a:pPr lvl="2"/>
            <a:r>
              <a:rPr lang="en-US" dirty="0"/>
              <a:t>These two commands are equivalent. The ~ is nice as it can help save typing.</a:t>
            </a:r>
          </a:p>
          <a:p>
            <a:pPr lvl="1"/>
            <a:r>
              <a:rPr lang="en-US" dirty="0"/>
              <a:t>Try these out in the Terminal to verify that they are equivalent</a:t>
            </a:r>
          </a:p>
          <a:p>
            <a:r>
              <a:rPr lang="en-US" dirty="0"/>
              <a:t>The concept of a filesystem path is very important and will come up frequently throughout the class. Please ask any questions about this.</a:t>
            </a:r>
          </a:p>
        </p:txBody>
      </p:sp>
    </p:spTree>
    <p:extLst>
      <p:ext uri="{BB962C8B-B14F-4D97-AF65-F5344CB8AC3E}">
        <p14:creationId xmlns:p14="http://schemas.microsoft.com/office/powerpoint/2010/main" val="4084552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1A11-5749-8442-BEA8-1A332AF63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and Moving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EFF64-62F4-6B49-B8C8-C44BFAD33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7759521" cy="4800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Just like how you can move or copy files into a folder, UNIX offers commands for copying and moving files from the Terminal:</a:t>
            </a:r>
          </a:p>
          <a:p>
            <a:pPr lvl="2"/>
            <a:r>
              <a:rPr lang="en-US" dirty="0">
                <a:solidFill>
                  <a:srgbClr val="0432FF"/>
                </a:solidFill>
              </a:rPr>
              <a:t>cp</a:t>
            </a:r>
            <a:r>
              <a:rPr lang="en-US" dirty="0"/>
              <a:t> – Copy </a:t>
            </a:r>
          </a:p>
          <a:p>
            <a:pPr lvl="2"/>
            <a:r>
              <a:rPr lang="en-US" dirty="0">
                <a:solidFill>
                  <a:srgbClr val="0432FF"/>
                </a:solidFill>
              </a:rPr>
              <a:t>mv</a:t>
            </a:r>
            <a:r>
              <a:rPr lang="en-US" dirty="0"/>
              <a:t> – Move</a:t>
            </a:r>
          </a:p>
          <a:p>
            <a:r>
              <a:rPr lang="en-US" dirty="0"/>
              <a:t>The syntax for these commands are similar. You need to specify a “path” for the file that you’re trying to copy and a path for the location you want to copy or move the file to.</a:t>
            </a:r>
          </a:p>
          <a:p>
            <a:pPr lvl="2"/>
            <a:r>
              <a:rPr lang="en-US" dirty="0">
                <a:solidFill>
                  <a:srgbClr val="0432FF"/>
                </a:solidFill>
              </a:rPr>
              <a:t>cp &lt;file that you want to copy&gt; &lt; path to where you want to copy &gt;</a:t>
            </a:r>
          </a:p>
          <a:p>
            <a:pPr lvl="2"/>
            <a:r>
              <a:rPr lang="en-US" dirty="0">
                <a:solidFill>
                  <a:srgbClr val="0432FF"/>
                </a:solidFill>
              </a:rPr>
              <a:t>mv &lt;file that you want to move&gt; &lt; path to where you want to move &gt;</a:t>
            </a:r>
          </a:p>
          <a:p>
            <a:r>
              <a:rPr lang="en-US" dirty="0"/>
              <a:t>Just as their names refer, main difference between these commands are that copy will make a copy of the file, while move moves the file directly. A good way to think of this is copy/paste vs. cut/paste.   	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86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1A11-5749-8442-BEA8-1A332AF63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and Moving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EFF64-62F4-6B49-B8C8-C44BFAD33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417638"/>
            <a:ext cx="7759521" cy="4815737"/>
          </a:xfrm>
        </p:spPr>
        <p:txBody>
          <a:bodyPr>
            <a:normAutofit/>
          </a:bodyPr>
          <a:lstStyle/>
          <a:p>
            <a:r>
              <a:rPr lang="en-US" dirty="0"/>
              <a:t>Try it out!</a:t>
            </a:r>
          </a:p>
          <a:p>
            <a:pPr lvl="1"/>
            <a:r>
              <a:rPr lang="en-US" dirty="0"/>
              <a:t>Create an empty text file inside the Documents folder called “</a:t>
            </a:r>
            <a:r>
              <a:rPr lang="en-US" dirty="0" err="1">
                <a:solidFill>
                  <a:srgbClr val="0432FF"/>
                </a:solidFill>
              </a:rPr>
              <a:t>welcome.txt</a:t>
            </a:r>
            <a:r>
              <a:rPr lang="en-US" dirty="0"/>
              <a:t>” (e.g. </a:t>
            </a:r>
            <a:r>
              <a:rPr lang="en-US" dirty="0">
                <a:solidFill>
                  <a:srgbClr val="0432FF"/>
                </a:solidFill>
              </a:rPr>
              <a:t>touch ~/Documents/</a:t>
            </a:r>
            <a:r>
              <a:rPr lang="en-US" dirty="0" err="1">
                <a:solidFill>
                  <a:srgbClr val="0432FF"/>
                </a:solidFill>
              </a:rPr>
              <a:t>welcome.txt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Copy this file to a directory that you create on your home directory</a:t>
            </a:r>
          </a:p>
          <a:p>
            <a:pPr lvl="2"/>
            <a:r>
              <a:rPr lang="en-US" dirty="0"/>
              <a:t>First, make a new directory/folder inside your home directory:</a:t>
            </a:r>
          </a:p>
          <a:p>
            <a:pPr lvl="3"/>
            <a:r>
              <a:rPr lang="en-US" dirty="0" err="1">
                <a:solidFill>
                  <a:srgbClr val="0432FF"/>
                </a:solidFill>
              </a:rPr>
              <a:t>mkdir</a:t>
            </a:r>
            <a:r>
              <a:rPr lang="en-US" dirty="0">
                <a:solidFill>
                  <a:srgbClr val="0432FF"/>
                </a:solidFill>
              </a:rPr>
              <a:t>  ~/Test</a:t>
            </a:r>
          </a:p>
          <a:p>
            <a:pPr lvl="2"/>
            <a:r>
              <a:rPr lang="en-US" dirty="0"/>
              <a:t>Copy the </a:t>
            </a:r>
            <a:r>
              <a:rPr lang="en-US" dirty="0" err="1"/>
              <a:t>welcome.txt</a:t>
            </a:r>
            <a:r>
              <a:rPr lang="en-US" dirty="0"/>
              <a:t> file to this new directory:</a:t>
            </a:r>
          </a:p>
          <a:p>
            <a:pPr lvl="3"/>
            <a:r>
              <a:rPr lang="en-US" dirty="0">
                <a:solidFill>
                  <a:srgbClr val="0432FF"/>
                </a:solidFill>
              </a:rPr>
              <a:t>cp /home/neuro/Documents/</a:t>
            </a:r>
            <a:r>
              <a:rPr lang="en-US" dirty="0" err="1">
                <a:solidFill>
                  <a:srgbClr val="0432FF"/>
                </a:solidFill>
              </a:rPr>
              <a:t>welcome.txt</a:t>
            </a:r>
            <a:r>
              <a:rPr lang="en-US" dirty="0">
                <a:solidFill>
                  <a:srgbClr val="0432FF"/>
                </a:solidFill>
              </a:rPr>
              <a:t> /home/neuro/Test/</a:t>
            </a:r>
          </a:p>
          <a:p>
            <a:pPr lvl="3"/>
            <a:r>
              <a:rPr lang="en-US" dirty="0"/>
              <a:t>Or </a:t>
            </a:r>
          </a:p>
          <a:p>
            <a:pPr lvl="3"/>
            <a:r>
              <a:rPr lang="en-US" dirty="0">
                <a:solidFill>
                  <a:srgbClr val="0432FF"/>
                </a:solidFill>
              </a:rPr>
              <a:t>cp ~/Documents/</a:t>
            </a:r>
            <a:r>
              <a:rPr lang="en-US" dirty="0" err="1">
                <a:solidFill>
                  <a:srgbClr val="0432FF"/>
                </a:solidFill>
              </a:rPr>
              <a:t>welcome.txt</a:t>
            </a:r>
            <a:r>
              <a:rPr lang="en-US" dirty="0">
                <a:solidFill>
                  <a:srgbClr val="0432FF"/>
                </a:solidFill>
              </a:rPr>
              <a:t>  ~/Test/</a:t>
            </a:r>
          </a:p>
          <a:p>
            <a:pPr lvl="2"/>
            <a:r>
              <a:rPr lang="en-US" dirty="0"/>
              <a:t>Navigate to this new directory on your home directory and list its contents to verify that </a:t>
            </a:r>
            <a:r>
              <a:rPr lang="en-US" dirty="0" err="1"/>
              <a:t>welcome.txt</a:t>
            </a:r>
            <a:r>
              <a:rPr lang="en-US" dirty="0"/>
              <a:t> is inside.</a:t>
            </a:r>
          </a:p>
          <a:p>
            <a:pPr lvl="3"/>
            <a:r>
              <a:rPr lang="en-US" dirty="0">
                <a:solidFill>
                  <a:srgbClr val="0432FF"/>
                </a:solidFill>
              </a:rPr>
              <a:t>cd</a:t>
            </a:r>
            <a:r>
              <a:rPr lang="en-US" dirty="0"/>
              <a:t> </a:t>
            </a:r>
            <a:r>
              <a:rPr lang="en-US" dirty="0">
                <a:solidFill>
                  <a:srgbClr val="0432FF"/>
                </a:solidFill>
              </a:rPr>
              <a:t>/home/neuro/Test/</a:t>
            </a:r>
          </a:p>
          <a:p>
            <a:pPr lvl="3"/>
            <a:r>
              <a:rPr lang="en-US" dirty="0">
                <a:solidFill>
                  <a:srgbClr val="0432FF"/>
                </a:solidFill>
              </a:rPr>
              <a:t>ls </a:t>
            </a:r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730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1A11-5749-8442-BEA8-1A332AF63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and Moving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EFF64-62F4-6B49-B8C8-C44BFAD33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417638"/>
            <a:ext cx="7759521" cy="516572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Try it out!</a:t>
            </a:r>
          </a:p>
          <a:p>
            <a:pPr lvl="1"/>
            <a:r>
              <a:rPr lang="en-US" dirty="0"/>
              <a:t>Now, navigate back to your home directory:</a:t>
            </a:r>
          </a:p>
          <a:p>
            <a:pPr lvl="2"/>
            <a:r>
              <a:rPr lang="en-US" dirty="0">
                <a:solidFill>
                  <a:srgbClr val="0432FF"/>
                </a:solidFill>
              </a:rPr>
              <a:t>cd ~</a:t>
            </a:r>
          </a:p>
          <a:p>
            <a:pPr lvl="1"/>
            <a:r>
              <a:rPr lang="en-US" dirty="0"/>
              <a:t>Create a new directory, lets call it Move:</a:t>
            </a:r>
          </a:p>
          <a:p>
            <a:pPr lvl="2"/>
            <a:r>
              <a:rPr lang="en-US" dirty="0" err="1">
                <a:solidFill>
                  <a:srgbClr val="0432FF"/>
                </a:solidFill>
              </a:rPr>
              <a:t>mkdir</a:t>
            </a:r>
            <a:r>
              <a:rPr lang="en-US" dirty="0">
                <a:solidFill>
                  <a:srgbClr val="0432FF"/>
                </a:solidFill>
              </a:rPr>
              <a:t> ~/Move</a:t>
            </a:r>
          </a:p>
          <a:p>
            <a:pPr lvl="1"/>
            <a:r>
              <a:rPr lang="en-US" dirty="0"/>
              <a:t>Now move </a:t>
            </a:r>
            <a:r>
              <a:rPr lang="en-US" dirty="0" err="1"/>
              <a:t>welcome.txt</a:t>
            </a:r>
            <a:r>
              <a:rPr lang="en-US" dirty="0"/>
              <a:t> from the directory Test to Move:</a:t>
            </a:r>
          </a:p>
          <a:p>
            <a:pPr lvl="2"/>
            <a:r>
              <a:rPr lang="en-US" dirty="0">
                <a:solidFill>
                  <a:srgbClr val="0432FF"/>
                </a:solidFill>
              </a:rPr>
              <a:t>mv ~/Test/</a:t>
            </a:r>
            <a:r>
              <a:rPr lang="en-US" dirty="0" err="1">
                <a:solidFill>
                  <a:srgbClr val="0432FF"/>
                </a:solidFill>
              </a:rPr>
              <a:t>welcome.txt</a:t>
            </a:r>
            <a:r>
              <a:rPr lang="en-US" dirty="0">
                <a:solidFill>
                  <a:srgbClr val="0432FF"/>
                </a:solidFill>
              </a:rPr>
              <a:t>  ~/Move/  </a:t>
            </a:r>
          </a:p>
          <a:p>
            <a:pPr lvl="2"/>
            <a:r>
              <a:rPr lang="en-US" dirty="0"/>
              <a:t>NOTE: We did not specify a filename at the end of the move command. If you would like to rename the file, you can specify a different filename with the command</a:t>
            </a:r>
          </a:p>
          <a:p>
            <a:pPr lvl="1"/>
            <a:r>
              <a:rPr lang="en-US" dirty="0"/>
              <a:t>Navigate to Test to verify that </a:t>
            </a:r>
            <a:r>
              <a:rPr lang="en-US" dirty="0" err="1"/>
              <a:t>welcome.txt</a:t>
            </a:r>
            <a:r>
              <a:rPr lang="en-US" dirty="0"/>
              <a:t> is no longer there</a:t>
            </a:r>
          </a:p>
          <a:p>
            <a:pPr lvl="3"/>
            <a:r>
              <a:rPr lang="en-US" dirty="0">
                <a:solidFill>
                  <a:srgbClr val="0432FF"/>
                </a:solidFill>
              </a:rPr>
              <a:t>cd</a:t>
            </a:r>
            <a:r>
              <a:rPr lang="en-US" dirty="0"/>
              <a:t> </a:t>
            </a:r>
            <a:r>
              <a:rPr lang="en-US" dirty="0">
                <a:solidFill>
                  <a:srgbClr val="0432FF"/>
                </a:solidFill>
              </a:rPr>
              <a:t>~/Test/</a:t>
            </a:r>
          </a:p>
          <a:p>
            <a:pPr lvl="3"/>
            <a:r>
              <a:rPr lang="en-US" dirty="0">
                <a:solidFill>
                  <a:srgbClr val="0432FF"/>
                </a:solidFill>
              </a:rPr>
              <a:t>ls </a:t>
            </a:r>
          </a:p>
          <a:p>
            <a:pPr lvl="1"/>
            <a:r>
              <a:rPr lang="en-US" dirty="0"/>
              <a:t>Navigate to Move to verify that </a:t>
            </a:r>
            <a:r>
              <a:rPr lang="en-US" dirty="0" err="1"/>
              <a:t>welcome.txt</a:t>
            </a:r>
            <a:r>
              <a:rPr lang="en-US" dirty="0"/>
              <a:t> is now in this location</a:t>
            </a:r>
          </a:p>
          <a:p>
            <a:pPr lvl="3"/>
            <a:r>
              <a:rPr lang="en-US" dirty="0">
                <a:solidFill>
                  <a:srgbClr val="0432FF"/>
                </a:solidFill>
              </a:rPr>
              <a:t>cd</a:t>
            </a:r>
            <a:r>
              <a:rPr lang="en-US" dirty="0"/>
              <a:t> </a:t>
            </a:r>
            <a:r>
              <a:rPr lang="en-US" dirty="0">
                <a:solidFill>
                  <a:srgbClr val="0432FF"/>
                </a:solidFill>
              </a:rPr>
              <a:t>~/Move/</a:t>
            </a:r>
          </a:p>
          <a:p>
            <a:pPr lvl="3"/>
            <a:r>
              <a:rPr lang="en-US" dirty="0">
                <a:solidFill>
                  <a:srgbClr val="0432FF"/>
                </a:solidFill>
              </a:rPr>
              <a:t>ls</a:t>
            </a: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371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AC2FE-9ECF-B447-9909-43FC157A1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and Moving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AA8D-FCDE-6D48-B489-9D0061016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also copy a folder to a new location using the same </a:t>
            </a:r>
            <a:r>
              <a:rPr lang="en-US" dirty="0">
                <a:solidFill>
                  <a:srgbClr val="0432FF"/>
                </a:solidFill>
              </a:rPr>
              <a:t>cp</a:t>
            </a:r>
            <a:r>
              <a:rPr lang="en-US" dirty="0"/>
              <a:t> command, with one subtle difference. You should include the syntax </a:t>
            </a:r>
            <a:r>
              <a:rPr lang="en-US" dirty="0">
                <a:solidFill>
                  <a:srgbClr val="0432FF"/>
                </a:solidFill>
              </a:rPr>
              <a:t>‘-r</a:t>
            </a:r>
            <a:r>
              <a:rPr lang="en-US" dirty="0"/>
              <a:t>’ before specifying the paths to your image.</a:t>
            </a:r>
          </a:p>
          <a:p>
            <a:r>
              <a:rPr lang="en-US" dirty="0"/>
              <a:t>For example, if I wanted to copy the folder Test into the folder Move, we could use the following command:</a:t>
            </a:r>
          </a:p>
          <a:p>
            <a:pPr lvl="1"/>
            <a:r>
              <a:rPr lang="en-US" dirty="0">
                <a:solidFill>
                  <a:srgbClr val="0432FF"/>
                </a:solidFill>
              </a:rPr>
              <a:t>cp ~/Test ~/Move/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‘-r’ option refers to </a:t>
            </a:r>
            <a:r>
              <a:rPr lang="en-US" i="1" dirty="0"/>
              <a:t>copy recursively</a:t>
            </a:r>
            <a:r>
              <a:rPr lang="en-US" dirty="0"/>
              <a:t> and copies all of the contents of a folder or directory</a:t>
            </a:r>
          </a:p>
        </p:txBody>
      </p:sp>
    </p:spTree>
    <p:extLst>
      <p:ext uri="{BB962C8B-B14F-4D97-AF65-F5344CB8AC3E}">
        <p14:creationId xmlns:p14="http://schemas.microsoft.com/office/powerpoint/2010/main" val="3691273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AC2FE-9ECF-B447-9909-43FC157A1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and Concatenate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AA8D-FCDE-6D48-B489-9D0061016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Another frequently used command is the </a:t>
            </a:r>
            <a:r>
              <a:rPr lang="en-US" dirty="0">
                <a:solidFill>
                  <a:srgbClr val="0432FF"/>
                </a:solidFill>
              </a:rPr>
              <a:t>cat</a:t>
            </a:r>
            <a:r>
              <a:rPr lang="en-US" dirty="0"/>
              <a:t> command. This command has multiple purposes:</a:t>
            </a:r>
          </a:p>
          <a:p>
            <a:pPr lvl="1" fontAlgn="base"/>
            <a:r>
              <a:rPr lang="en-US" dirty="0"/>
              <a:t>Displaying files</a:t>
            </a:r>
          </a:p>
          <a:p>
            <a:pPr lvl="1" fontAlgn="base"/>
            <a:r>
              <a:rPr lang="en-US" dirty="0"/>
              <a:t>Combining copies of files into one</a:t>
            </a:r>
          </a:p>
          <a:p>
            <a:pPr lvl="1" fontAlgn="base"/>
            <a:r>
              <a:rPr lang="en-US" dirty="0"/>
              <a:t>Creating new files.</a:t>
            </a:r>
          </a:p>
          <a:p>
            <a:pPr lvl="1" fontAlgn="base"/>
            <a:r>
              <a:rPr lang="en-US" dirty="0"/>
              <a:t>Copying files</a:t>
            </a:r>
          </a:p>
          <a:p>
            <a:r>
              <a:rPr lang="en-US" dirty="0"/>
              <a:t>The following link describes these functions very well:</a:t>
            </a:r>
          </a:p>
          <a:p>
            <a:pPr lvl="1"/>
            <a:r>
              <a:rPr lang="en-US" dirty="0">
                <a:hlinkClick r:id="rId2"/>
              </a:rPr>
              <a:t>https://askubuntu.com/questions/642942/what-is-cat-used-for</a:t>
            </a:r>
            <a:endParaRPr lang="en-US" dirty="0"/>
          </a:p>
          <a:p>
            <a:r>
              <a:rPr lang="en-US" dirty="0"/>
              <a:t>Here we will try out the first purpose, displaying the contents of a file:</a:t>
            </a:r>
          </a:p>
          <a:p>
            <a:pPr lvl="1"/>
            <a:r>
              <a:rPr lang="en-US" dirty="0"/>
              <a:t>Navigate to the Move directory inside your home directory:</a:t>
            </a:r>
          </a:p>
          <a:p>
            <a:pPr lvl="2"/>
            <a:r>
              <a:rPr lang="en-US" dirty="0">
                <a:solidFill>
                  <a:srgbClr val="0432FF"/>
                </a:solidFill>
              </a:rPr>
              <a:t>cd ~/Move</a:t>
            </a:r>
          </a:p>
          <a:p>
            <a:pPr lvl="1"/>
            <a:r>
              <a:rPr lang="en-US" dirty="0"/>
              <a:t>Display the contents of </a:t>
            </a:r>
            <a:r>
              <a:rPr lang="en-US" dirty="0" err="1"/>
              <a:t>welcome.txt</a:t>
            </a:r>
            <a:r>
              <a:rPr lang="en-US" dirty="0"/>
              <a:t>:</a:t>
            </a:r>
          </a:p>
          <a:p>
            <a:pPr lvl="2"/>
            <a:r>
              <a:rPr lang="en-US" dirty="0">
                <a:solidFill>
                  <a:srgbClr val="0432FF"/>
                </a:solidFill>
              </a:rPr>
              <a:t>cat </a:t>
            </a:r>
            <a:r>
              <a:rPr lang="en-US" dirty="0" err="1">
                <a:solidFill>
                  <a:srgbClr val="0432FF"/>
                </a:solidFill>
              </a:rPr>
              <a:t>welcome.txt</a:t>
            </a:r>
            <a:endParaRPr lang="en-US" dirty="0">
              <a:solidFill>
                <a:srgbClr val="0432FF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697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67FF2-3952-6A49-B21E-A12ABEAF2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A19A3-EB91-C64D-AC6C-1D166CC02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emphasize again, that becoming comfortable and proficient using the command line takes a lot of practice.</a:t>
            </a:r>
          </a:p>
          <a:p>
            <a:r>
              <a:rPr lang="en-US" dirty="0"/>
              <a:t>We don’t expect you to be perfect using the Terminal initially, but we hope that as you move through the class, these concepts will become a little easier.</a:t>
            </a:r>
            <a:br>
              <a:rPr lang="en-US" dirty="0"/>
            </a:br>
            <a:endParaRPr lang="en-US" dirty="0"/>
          </a:p>
          <a:p>
            <a:r>
              <a:rPr lang="en-US" dirty="0"/>
              <a:t> The next two slides contains a few links that have different tutorials and exercises for practicing and learning the command line. </a:t>
            </a:r>
            <a:r>
              <a:rPr lang="en-US" b="1" dirty="0"/>
              <a:t>WE HIGHLY RECOMMEND GOING </a:t>
            </a:r>
            <a:r>
              <a:rPr lang="en-US" b="1"/>
              <a:t>THROUGH ONE OR MORE OF THESE </a:t>
            </a:r>
            <a:r>
              <a:rPr lang="en-US" b="1" dirty="0"/>
              <a:t>TO PRACTICE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5917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620000" cy="1143000"/>
          </a:xfrm>
        </p:spPr>
        <p:txBody>
          <a:bodyPr/>
          <a:lstStyle/>
          <a:p>
            <a:r>
              <a:rPr lang="en-US" sz="4400" dirty="0"/>
              <a:t>B</a:t>
            </a:r>
            <a:r>
              <a:rPr lang="en-US" sz="4000" dirty="0"/>
              <a:t>asic UNIX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7620000" cy="552825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Again, we want to emphasize that becoming proficient using the Terminal takes a lot of practice. </a:t>
            </a:r>
          </a:p>
          <a:p>
            <a:r>
              <a:rPr lang="en-US" dirty="0"/>
              <a:t>The UNIX Tutorial for Beginners website contains explanations of basic UNIX commands commonly used to navigate the terminal: </a:t>
            </a:r>
            <a:r>
              <a:rPr lang="en-US" dirty="0">
                <a:hlinkClick r:id="rId2"/>
              </a:rPr>
              <a:t>http://www.ee.surrey.ac.uk/Teaching/Unix/</a:t>
            </a:r>
            <a:endParaRPr lang="en-US" dirty="0"/>
          </a:p>
          <a:p>
            <a:r>
              <a:rPr lang="en-US" dirty="0"/>
              <a:t>For our purposes, follow these instructions on what you need to know for each embedded link on the web page:</a:t>
            </a:r>
          </a:p>
          <a:p>
            <a:pPr lvl="1"/>
            <a:r>
              <a:rPr lang="en-US" u="sng" dirty="0"/>
              <a:t>Introduction to the UNIX  Operating System</a:t>
            </a:r>
          </a:p>
          <a:p>
            <a:pPr lvl="2"/>
            <a:r>
              <a:rPr lang="en-US" dirty="0"/>
              <a:t>Skip ‘Starting an UNIX terminal’</a:t>
            </a:r>
          </a:p>
          <a:p>
            <a:pPr lvl="1"/>
            <a:r>
              <a:rPr lang="en-US" u="sng" dirty="0"/>
              <a:t>Tutorial One</a:t>
            </a:r>
          </a:p>
          <a:p>
            <a:pPr lvl="2"/>
            <a:r>
              <a:rPr lang="en-US" dirty="0"/>
              <a:t>Cover all</a:t>
            </a:r>
          </a:p>
          <a:p>
            <a:pPr lvl="1"/>
            <a:r>
              <a:rPr lang="en-US" u="sng" dirty="0"/>
              <a:t>Tutorial Two</a:t>
            </a:r>
          </a:p>
          <a:p>
            <a:pPr lvl="2"/>
            <a:r>
              <a:rPr lang="en-US" dirty="0"/>
              <a:t>Ignore ‘less’, ‘head’, ‘tail’, and Section 2.5</a:t>
            </a:r>
          </a:p>
          <a:p>
            <a:pPr lvl="1"/>
            <a:r>
              <a:rPr lang="en-US" u="sng" dirty="0"/>
              <a:t>Tutorial Three</a:t>
            </a:r>
          </a:p>
          <a:p>
            <a:pPr lvl="2"/>
            <a:r>
              <a:rPr lang="en-US" dirty="0"/>
              <a:t>Skip all</a:t>
            </a:r>
          </a:p>
          <a:p>
            <a:pPr lvl="1"/>
            <a:r>
              <a:rPr lang="en-US" u="sng" dirty="0"/>
              <a:t>Tutorial Four</a:t>
            </a:r>
          </a:p>
          <a:p>
            <a:pPr lvl="2"/>
            <a:r>
              <a:rPr lang="en-US" dirty="0"/>
              <a:t>Skip Section 4.3</a:t>
            </a:r>
          </a:p>
          <a:p>
            <a:pPr lvl="1"/>
            <a:r>
              <a:rPr lang="en-US" dirty="0"/>
              <a:t>Stop after Tutorial Four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Ignore the ‘</a:t>
            </a:r>
            <a:r>
              <a:rPr lang="en-US" b="1" dirty="0"/>
              <a:t>%</a:t>
            </a:r>
            <a:r>
              <a:rPr lang="en-US" dirty="0">
                <a:solidFill>
                  <a:srgbClr val="FF0000"/>
                </a:solidFill>
              </a:rPr>
              <a:t>’ sign in front of each command, as this does not appear on our command lines</a:t>
            </a:r>
          </a:p>
          <a:p>
            <a:pPr lvl="2"/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7634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070CA-D610-2B41-95A8-AC7ACE81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HIGHLY RECOMMENDED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DBC86-151E-034C-ADCB-75BE818C4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 is highly recommended that you take the time to go through this tutorial on your own time:</a:t>
            </a:r>
          </a:p>
          <a:p>
            <a:r>
              <a:rPr lang="en-US" dirty="0">
                <a:hlinkClick r:id="rId2"/>
              </a:rPr>
              <a:t>https://www.codecademy.com/learn/learn-the-command-line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will give you practice in using the terminal/command line, which will be a major part of the course. The only way to get better at the terminal is by practicing using it. This tutorial will help give you that practice.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Additional tutorials are provided:</a:t>
            </a:r>
            <a:br>
              <a:rPr lang="en-US" dirty="0"/>
            </a:br>
            <a:r>
              <a:rPr lang="en-US" dirty="0">
                <a:hlinkClick r:id="rId3"/>
              </a:rPr>
              <a:t>https://www.vikingcodeschool.com/web-development-basics/a-command-line-crash-course</a:t>
            </a:r>
            <a:endParaRPr lang="en-US" dirty="0"/>
          </a:p>
          <a:p>
            <a:r>
              <a:rPr lang="en-US" dirty="0">
                <a:hlinkClick r:id="rId4"/>
              </a:rPr>
              <a:t>https://ryanstutorials.net/linuxtutorial/commandline.php</a:t>
            </a:r>
            <a:endParaRPr lang="en-US" dirty="0"/>
          </a:p>
          <a:p>
            <a:r>
              <a:rPr lang="en-US" dirty="0">
                <a:hlinkClick r:id="rId5"/>
              </a:rPr>
              <a:t>https://www.davidbaumgold.com/tutorials/command-line/</a:t>
            </a: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4348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Adjacency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Adjacency.thmx</Template>
  <TotalTime>4660</TotalTime>
  <Words>2620</Words>
  <Application>Microsoft Macintosh PowerPoint</Application>
  <PresentationFormat>On-screen Show (4:3)</PresentationFormat>
  <Paragraphs>227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Wingdings</vt:lpstr>
      <vt:lpstr>Adjacency</vt:lpstr>
      <vt:lpstr>Lab - Overview</vt:lpstr>
      <vt:lpstr>Assignment/Homework</vt:lpstr>
      <vt:lpstr>Getting Started: Basic UNIX</vt:lpstr>
      <vt:lpstr>Lab 1: Introduction to Unix</vt:lpstr>
      <vt:lpstr>Terminal 101</vt:lpstr>
      <vt:lpstr>Filesystem and Directory Structure</vt:lpstr>
      <vt:lpstr>Filesystem and Directory Structure</vt:lpstr>
      <vt:lpstr>Navigating the Filesystem</vt:lpstr>
      <vt:lpstr>Navigating the Filesystem</vt:lpstr>
      <vt:lpstr>Basic UNIX Commands Review</vt:lpstr>
      <vt:lpstr>Basic UNIX Commands</vt:lpstr>
      <vt:lpstr>Other Useful UNIX commands</vt:lpstr>
      <vt:lpstr>Useful UNIX tips &amp; tricks</vt:lpstr>
      <vt:lpstr>Useful UNIX tips &amp; tricks</vt:lpstr>
      <vt:lpstr>Useful UNIX tips &amp; tricks</vt:lpstr>
      <vt:lpstr>Filesystem Paths</vt:lpstr>
      <vt:lpstr>Filesystem Paths</vt:lpstr>
      <vt:lpstr>Copying and Moving Files</vt:lpstr>
      <vt:lpstr>Copying and Moving Files</vt:lpstr>
      <vt:lpstr>Copying and Moving Files</vt:lpstr>
      <vt:lpstr>Copying and Moving Files</vt:lpstr>
      <vt:lpstr>Print and Concatenate Files</vt:lpstr>
      <vt:lpstr>Remember…</vt:lpstr>
      <vt:lpstr>Basic UNIX tutorial</vt:lpstr>
      <vt:lpstr>HIGHLY RECOMMENDED</vt:lpstr>
    </vt:vector>
  </TitlesOfParts>
  <Company>Waisman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Started: Basic UNIX, FSL, and WIKI</dc:title>
  <dc:creator>Dan Destiche</dc:creator>
  <cp:lastModifiedBy>Doug Dean III</cp:lastModifiedBy>
  <cp:revision>183</cp:revision>
  <dcterms:created xsi:type="dcterms:W3CDTF">2012-10-01T15:22:11Z</dcterms:created>
  <dcterms:modified xsi:type="dcterms:W3CDTF">2020-09-07T03:40:29Z</dcterms:modified>
</cp:coreProperties>
</file>