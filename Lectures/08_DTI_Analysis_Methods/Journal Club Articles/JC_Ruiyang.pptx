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sldIdLst>
    <p:sldId id="262" r:id="rId5"/>
    <p:sldId id="264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05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86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BC929-5E9E-4E4A-B692-A83C033C2E72}" type="datetimeFigureOut">
              <a:rPr lang="en-US" smtClean="0"/>
              <a:t>10/26/20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4067BF-C6EB-4236-9F11-E6BBCA5AD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642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4728" y="2283618"/>
            <a:ext cx="8200724" cy="2290763"/>
          </a:xfrm>
        </p:spPr>
        <p:txBody>
          <a:bodyPr anchor="t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4728" y="4747444"/>
            <a:ext cx="8200724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243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7B60409-0D1C-41A2-88C3-77FF35971A35}"/>
              </a:ext>
            </a:extLst>
          </p:cNvPr>
          <p:cNvSpPr/>
          <p:nvPr userDrawn="1"/>
        </p:nvSpPr>
        <p:spPr>
          <a:xfrm>
            <a:off x="1" y="-28806"/>
            <a:ext cx="12192000" cy="6886806"/>
          </a:xfrm>
          <a:prstGeom prst="rect">
            <a:avLst/>
          </a:prstGeom>
          <a:solidFill>
            <a:srgbClr val="C5050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red and white sign&#10;&#10;Description automatically generated">
            <a:extLst>
              <a:ext uri="{FF2B5EF4-FFF2-40B4-BE49-F238E27FC236}">
                <a16:creationId xmlns:a16="http://schemas.microsoft.com/office/drawing/2014/main" id="{7FACBEF4-57BE-4A51-9644-B6773455E1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907" y="151758"/>
            <a:ext cx="1245912" cy="19587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54F192-7636-4A03-ACA7-591F06BF2145}"/>
              </a:ext>
            </a:extLst>
          </p:cNvPr>
          <p:cNvSpPr txBox="1"/>
          <p:nvPr userDrawn="1"/>
        </p:nvSpPr>
        <p:spPr>
          <a:xfrm>
            <a:off x="2147207" y="308361"/>
            <a:ext cx="9617529" cy="1802194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8C4598-B61C-45E0-8E80-B80D920ED024}"/>
              </a:ext>
            </a:extLst>
          </p:cNvPr>
          <p:cNvSpPr txBox="1"/>
          <p:nvPr userDrawn="1"/>
        </p:nvSpPr>
        <p:spPr>
          <a:xfrm>
            <a:off x="2214026" y="2559961"/>
            <a:ext cx="78832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i="1" dirty="0">
                <a:solidFill>
                  <a:schemeClr val="bg1"/>
                </a:solidFill>
              </a:rPr>
              <a:t>Authors</a:t>
            </a:r>
          </a:p>
          <a:p>
            <a:endParaRPr lang="en-US" sz="3600" i="1" dirty="0">
              <a:solidFill>
                <a:schemeClr val="bg1"/>
              </a:solidFill>
            </a:endParaRPr>
          </a:p>
          <a:p>
            <a:endParaRPr lang="en-US" sz="3600" i="1" dirty="0">
              <a:solidFill>
                <a:schemeClr val="bg1"/>
              </a:solidFill>
            </a:endParaRPr>
          </a:p>
          <a:p>
            <a:endParaRPr lang="en-US" sz="3600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927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6372"/>
            <a:ext cx="10515600" cy="6409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0597"/>
            <a:ext cx="10515600" cy="50489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92C82-A379-4545-9012-2E0C55996908}" type="datetimeFigureOut">
              <a:rPr lang="en-US" smtClean="0"/>
              <a:t>10/26/20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E6D7-F04D-7741-82FC-941AB368F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8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6372"/>
            <a:ext cx="10515600" cy="64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0597"/>
            <a:ext cx="11108140" cy="504891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6B92C82-A379-4545-9012-2E0C55996908}" type="datetimeFigureOut">
              <a:rPr lang="en-US" smtClean="0"/>
              <a:pPr/>
              <a:t>10/26/20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D5DE6D7-F04D-7741-82FC-941AB368F7C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red and white sign&#10;&#10;Description automatically generated">
            <a:extLst>
              <a:ext uri="{FF2B5EF4-FFF2-40B4-BE49-F238E27FC236}">
                <a16:creationId xmlns:a16="http://schemas.microsoft.com/office/drawing/2014/main" id="{42969588-FBB0-4DAB-A2CB-1537D87E8A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1419" y="165789"/>
            <a:ext cx="779744" cy="122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227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5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1871481"/>
            <a:ext cx="10515600" cy="2852737"/>
          </a:xfrm>
        </p:spPr>
        <p:txBody>
          <a:bodyPr anchor="ctr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95339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6B92C82-A379-4545-9012-2E0C55996908}" type="datetimeFigureOut">
              <a:rPr lang="en-US" smtClean="0"/>
              <a:t>10/26/20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D5DE6D7-F04D-7741-82FC-941AB368F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375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5099"/>
            <a:ext cx="10515600" cy="6836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30596"/>
            <a:ext cx="5181600" cy="5023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30596"/>
            <a:ext cx="5181600" cy="5023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92C82-A379-4545-9012-2E0C55996908}" type="datetimeFigureOut">
              <a:rPr lang="en-US" smtClean="0"/>
              <a:t>10/26/20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E6D7-F04D-7741-82FC-941AB368F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104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14216"/>
            <a:ext cx="10515600" cy="6409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16841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093720"/>
            <a:ext cx="5157787" cy="40959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6841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93720"/>
            <a:ext cx="5183188" cy="40959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92C82-A379-4545-9012-2E0C55996908}" type="datetimeFigureOut">
              <a:rPr lang="en-US" smtClean="0"/>
              <a:t>10/26/20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E6D7-F04D-7741-82FC-941AB368F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827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3467"/>
            <a:ext cx="10515600" cy="6152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92C82-A379-4545-9012-2E0C55996908}" type="datetimeFigureOut">
              <a:rPr lang="en-US" smtClean="0"/>
              <a:t>10/26/20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E6D7-F04D-7741-82FC-941AB368F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678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92C82-A379-4545-9012-2E0C55996908}" type="datetimeFigureOut">
              <a:rPr lang="en-US" smtClean="0"/>
              <a:t>10/26/20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E6D7-F04D-7741-82FC-941AB368F7CA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A red and white sign&#10;&#10;Description automatically generated">
            <a:extLst>
              <a:ext uri="{FF2B5EF4-FFF2-40B4-BE49-F238E27FC236}">
                <a16:creationId xmlns:a16="http://schemas.microsoft.com/office/drawing/2014/main" id="{34E1291B-7ADE-47F2-A5B1-A0985D7373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1419" y="165789"/>
            <a:ext cx="779744" cy="122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324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p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92C82-A379-4545-9012-2E0C55996908}" type="datetimeFigureOut">
              <a:rPr lang="en-US" smtClean="0"/>
              <a:t>10/26/20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E6D7-F04D-7741-82FC-941AB368F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77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82011"/>
            <a:ext cx="10515600" cy="6665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30594"/>
            <a:ext cx="10515600" cy="4929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B92C82-A379-4545-9012-2E0C55996908}" type="datetimeFigureOut">
              <a:rPr lang="en-US" smtClean="0"/>
              <a:t>10/26/20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5DE6D7-F04D-7741-82FC-941AB368F7C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A red and white sign&#10;&#10;Description automatically generated">
            <a:extLst>
              <a:ext uri="{FF2B5EF4-FFF2-40B4-BE49-F238E27FC236}">
                <a16:creationId xmlns:a16="http://schemas.microsoft.com/office/drawing/2014/main" id="{ACD98118-AC25-4687-8C58-BF3321E3ECD9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1419" y="165789"/>
            <a:ext cx="779744" cy="122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685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62" r:id="rId3"/>
    <p:sldLayoutId id="2147483671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60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827144F-E0E3-4838-A520-11BB0A4E752F}"/>
              </a:ext>
            </a:extLst>
          </p:cNvPr>
          <p:cNvSpPr/>
          <p:nvPr/>
        </p:nvSpPr>
        <p:spPr>
          <a:xfrm>
            <a:off x="-321870" y="-57612"/>
            <a:ext cx="12513869" cy="6915612"/>
          </a:xfrm>
          <a:prstGeom prst="rect">
            <a:avLst/>
          </a:prstGeom>
          <a:solidFill>
            <a:srgbClr val="C5050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red and white sign&#10;&#10;Description automatically generated">
            <a:extLst>
              <a:ext uri="{FF2B5EF4-FFF2-40B4-BE49-F238E27FC236}">
                <a16:creationId xmlns:a16="http://schemas.microsoft.com/office/drawing/2014/main" id="{2E809AE9-4D38-4F8D-B889-131E8C9F38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63" y="102015"/>
            <a:ext cx="1245912" cy="19587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EA84B6-EDAB-4132-BA92-4DA0FE7A3BC6}"/>
              </a:ext>
            </a:extLst>
          </p:cNvPr>
          <p:cNvSpPr txBox="1"/>
          <p:nvPr/>
        </p:nvSpPr>
        <p:spPr>
          <a:xfrm>
            <a:off x="1642281" y="258618"/>
            <a:ext cx="10549719" cy="1802194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MP 651 Journal Club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FB443B-A907-4EA1-AE8F-41E97B61255C}"/>
              </a:ext>
            </a:extLst>
          </p:cNvPr>
          <p:cNvSpPr txBox="1"/>
          <p:nvPr/>
        </p:nvSpPr>
        <p:spPr>
          <a:xfrm>
            <a:off x="660204" y="2730237"/>
            <a:ext cx="1054972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Functional Connectivity in the Motor Cortex of Resting Human Brain Using Echo-Planar MRI</a:t>
            </a:r>
          </a:p>
          <a:p>
            <a:pPr algn="ctr"/>
            <a:endParaRPr lang="en-US" sz="3800" b="1" dirty="0">
              <a:solidFill>
                <a:schemeClr val="bg1"/>
              </a:solidFill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Bharat Biswal, F. </a:t>
            </a:r>
            <a:r>
              <a:rPr lang="en-US" sz="2400" dirty="0" err="1">
                <a:solidFill>
                  <a:schemeClr val="bg1"/>
                </a:solidFill>
              </a:rPr>
              <a:t>Zerrin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Yetkin</a:t>
            </a:r>
            <a:r>
              <a:rPr lang="en-US" sz="2400" dirty="0">
                <a:solidFill>
                  <a:schemeClr val="bg1"/>
                </a:solidFill>
              </a:rPr>
              <a:t>, Victor M. Haughton, James S. Hyde</a:t>
            </a:r>
          </a:p>
          <a:p>
            <a:pPr algn="ctr"/>
            <a:endParaRPr lang="en-US" sz="2400" dirty="0"/>
          </a:p>
          <a:p>
            <a:pPr algn="ctr"/>
            <a:r>
              <a:rPr lang="en-US" sz="2400" i="1" dirty="0">
                <a:solidFill>
                  <a:schemeClr val="bg1"/>
                </a:solidFill>
              </a:rPr>
              <a:t>MRM 34:537~541, 1995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1108358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and white sign&#10;&#10;Description automatically generated">
            <a:extLst>
              <a:ext uri="{FF2B5EF4-FFF2-40B4-BE49-F238E27FC236}">
                <a16:creationId xmlns:a16="http://schemas.microsoft.com/office/drawing/2014/main" id="{1F41B0E6-7341-424D-8868-FC98CC0F0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1419" y="165789"/>
            <a:ext cx="779744" cy="1225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F1F080D-F51B-6B49-89FE-2EFE42FFD0A1}"/>
                  </a:ext>
                </a:extLst>
              </p:cNvPr>
              <p:cNvSpPr txBox="1"/>
              <p:nvPr/>
            </p:nvSpPr>
            <p:spPr>
              <a:xfrm>
                <a:off x="388419" y="0"/>
                <a:ext cx="63337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Background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Methods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 Results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 Conclusion</a:t>
                </a:r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F1F080D-F51B-6B49-89FE-2EFE42FFD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419" y="0"/>
                <a:ext cx="6333785" cy="461665"/>
              </a:xfrm>
              <a:prstGeom prst="rect">
                <a:avLst/>
              </a:prstGeom>
              <a:blipFill>
                <a:blip r:embed="rId3"/>
                <a:stretch>
                  <a:fillRect l="-1400" t="-10811" r="-400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827CEBE-BF5A-594F-8E86-6B9584A283C1}"/>
              </a:ext>
            </a:extLst>
          </p:cNvPr>
          <p:cNvSpPr txBox="1"/>
          <p:nvPr/>
        </p:nvSpPr>
        <p:spPr>
          <a:xfrm>
            <a:off x="592037" y="746369"/>
            <a:ext cx="1159996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Physiological fluctuations in resting brain discovered by EPI MRI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A time course of signal intensities from a given pixel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Fourier transform used to show frequency components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[1] Heart rate [2] Respiratory sidebands </a:t>
            </a:r>
            <a:r>
              <a:rPr lang="en-US" sz="2200" dirty="0"/>
              <a:t>with their harmonics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Low-frequency (&lt;0.1 Hz) fluctuations observed. </a:t>
            </a:r>
            <a:r>
              <a:rPr lang="en-US" sz="2200" dirty="0">
                <a:solidFill>
                  <a:srgbClr val="FF0000"/>
                </a:solidFill>
              </a:rPr>
              <a:t>Focus of this paper!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i="1" u="sng" dirty="0"/>
              <a:t>High correlation between sensory motor cortex (hand movement) and low-frequency fluctuations within and across hemispheres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91173C-5503-6E46-8AC6-7822AB8E1016}"/>
              </a:ext>
            </a:extLst>
          </p:cNvPr>
          <p:cNvSpPr txBox="1"/>
          <p:nvPr/>
        </p:nvSpPr>
        <p:spPr>
          <a:xfrm>
            <a:off x="592037" y="3396632"/>
            <a:ext cx="1176857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Correlation of electrical activity in the rat cerebral cortex with </a:t>
            </a:r>
            <a:r>
              <a:rPr lang="en-US" sz="2200" b="1" dirty="0" err="1"/>
              <a:t>rCBF</a:t>
            </a:r>
            <a:r>
              <a:rPr lang="en-US" sz="2200" b="1" dirty="0"/>
              <a:t> been reported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Frequency fluctuations are about the same as the fluctuations in human brain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Task-induced neuronal activity correlated with changes in [1] </a:t>
            </a:r>
            <a:r>
              <a:rPr lang="en-US" sz="2200" dirty="0" err="1"/>
              <a:t>rCBF</a:t>
            </a:r>
            <a:r>
              <a:rPr lang="en-US" sz="2200" dirty="0"/>
              <a:t> [2] blood oxygenation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Blood oxygenation sensitivity optimized in this study, although flow sensitivity remains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i="1" u="sng" dirty="0"/>
              <a:t>Fluctuations observed in the rat and in humans are of a similar nature</a:t>
            </a:r>
          </a:p>
        </p:txBody>
      </p:sp>
    </p:spTree>
    <p:extLst>
      <p:ext uri="{BB962C8B-B14F-4D97-AF65-F5344CB8AC3E}">
        <p14:creationId xmlns:p14="http://schemas.microsoft.com/office/powerpoint/2010/main" val="169420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and white sign&#10;&#10;Description automatically generated">
            <a:extLst>
              <a:ext uri="{FF2B5EF4-FFF2-40B4-BE49-F238E27FC236}">
                <a16:creationId xmlns:a16="http://schemas.microsoft.com/office/drawing/2014/main" id="{1F41B0E6-7341-424D-8868-FC98CC0F0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1419" y="165789"/>
            <a:ext cx="779744" cy="1225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F1F080D-F51B-6B49-89FE-2EFE42FFD0A1}"/>
                  </a:ext>
                </a:extLst>
              </p:cNvPr>
              <p:cNvSpPr txBox="1"/>
              <p:nvPr/>
            </p:nvSpPr>
            <p:spPr>
              <a:xfrm>
                <a:off x="388419" y="0"/>
                <a:ext cx="63337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Background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 </a:t>
                </a:r>
                <a:r>
                  <a:rPr lang="en-US" sz="2400" dirty="0"/>
                  <a:t>Methods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 Results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 Conclusion</a:t>
                </a:r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F1F080D-F51B-6B49-89FE-2EFE42FFD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419" y="0"/>
                <a:ext cx="6333785" cy="461665"/>
              </a:xfrm>
              <a:prstGeom prst="rect">
                <a:avLst/>
              </a:prstGeom>
              <a:blipFill>
                <a:blip r:embed="rId3"/>
                <a:stretch>
                  <a:fillRect l="-1400" t="-10811" r="-400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C807F1F-782C-9244-801F-0A462A185FD1}"/>
              </a:ext>
            </a:extLst>
          </p:cNvPr>
          <p:cNvSpPr txBox="1"/>
          <p:nvPr/>
        </p:nvSpPr>
        <p:spPr>
          <a:xfrm>
            <a:off x="388419" y="563293"/>
            <a:ext cx="774442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Study participant: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11</a:t>
            </a:r>
            <a:r>
              <a:rPr lang="en-US" sz="2200" dirty="0"/>
              <a:t> healthy human volunteers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200" dirty="0"/>
              <a:t>Right-handed (self-identified)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200" dirty="0"/>
              <a:t>8 M / 3 F (Age [24, 37])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200" dirty="0"/>
              <a:t>No history of head trauma / neurological disease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200" dirty="0"/>
              <a:t>No current use of medication and contradiction to MRI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11684E-2420-4F44-BA8E-41E2E28C2DA4}"/>
              </a:ext>
            </a:extLst>
          </p:cNvPr>
          <p:cNvSpPr txBox="1"/>
          <p:nvPr/>
        </p:nvSpPr>
        <p:spPr>
          <a:xfrm>
            <a:off x="461676" y="3278498"/>
            <a:ext cx="10769743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Scan setting: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A standard GE 1.5T Signa clinical scanner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A home-built three-axis balanced-toque head gradient coil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A shielded end-capped quadrature transmit / receive birdcage radio frequency coil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Foam padding used to limit head movement</a:t>
            </a:r>
          </a:p>
        </p:txBody>
      </p:sp>
    </p:spTree>
    <p:extLst>
      <p:ext uri="{BB962C8B-B14F-4D97-AF65-F5344CB8AC3E}">
        <p14:creationId xmlns:p14="http://schemas.microsoft.com/office/powerpoint/2010/main" val="696624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and white sign&#10;&#10;Description automatically generated">
            <a:extLst>
              <a:ext uri="{FF2B5EF4-FFF2-40B4-BE49-F238E27FC236}">
                <a16:creationId xmlns:a16="http://schemas.microsoft.com/office/drawing/2014/main" id="{1F41B0E6-7341-424D-8868-FC98CC0F0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1419" y="165789"/>
            <a:ext cx="779744" cy="1225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3279A6-5CA6-014A-93CE-9763D0D77F26}"/>
                  </a:ext>
                </a:extLst>
              </p:cNvPr>
              <p:cNvSpPr txBox="1"/>
              <p:nvPr/>
            </p:nvSpPr>
            <p:spPr>
              <a:xfrm>
                <a:off x="388419" y="0"/>
                <a:ext cx="63337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Background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 </a:t>
                </a:r>
                <a:r>
                  <a:rPr lang="en-US" sz="2400" dirty="0"/>
                  <a:t>Methods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 Results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 Conclusion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3279A6-5CA6-014A-93CE-9763D0D77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419" y="0"/>
                <a:ext cx="6333785" cy="461665"/>
              </a:xfrm>
              <a:prstGeom prst="rect">
                <a:avLst/>
              </a:prstGeom>
              <a:blipFill>
                <a:blip r:embed="rId3"/>
                <a:stretch>
                  <a:fillRect l="-1400" t="-10811" r="-400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511684E-2420-4F44-BA8E-41E2E28C2DA4}"/>
              </a:ext>
            </a:extLst>
          </p:cNvPr>
          <p:cNvSpPr txBox="1"/>
          <p:nvPr/>
        </p:nvSpPr>
        <p:spPr>
          <a:xfrm>
            <a:off x="421337" y="751343"/>
            <a:ext cx="11349325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/>
              <a:t>Scan protocol: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A single axial slice across motor cortex for each volunteer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High resolution GRASS sequence (TR = 600ms, TE = 10ms, FOV = 24cm, 256 x 256)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Several 512 EPI images obtained for functional imaging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200" dirty="0"/>
              <a:t>FOV = 24cm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200" dirty="0"/>
              <a:t>64 x 64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200" dirty="0"/>
              <a:t>TE = 40ms </a:t>
            </a:r>
          </a:p>
        </p:txBody>
      </p:sp>
      <p:pic>
        <p:nvPicPr>
          <p:cNvPr id="1026" name="Picture 2" descr="🖖 Sensory and motor areas in the cortex | The A Level Biologist - Your Hub  🌱">
            <a:extLst>
              <a:ext uri="{FF2B5EF4-FFF2-40B4-BE49-F238E27FC236}">
                <a16:creationId xmlns:a16="http://schemas.microsoft.com/office/drawing/2014/main" id="{87F4E1B2-A905-794E-9AF5-27A4FAA44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8030" y="3429000"/>
            <a:ext cx="4837013" cy="291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0F791B-AEF6-4546-8883-3401496F94A4}"/>
              </a:ext>
            </a:extLst>
          </p:cNvPr>
          <p:cNvSpPr txBox="1"/>
          <p:nvPr/>
        </p:nvSpPr>
        <p:spPr>
          <a:xfrm>
            <a:off x="4348232" y="6345064"/>
            <a:ext cx="39966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/>
              <a:t>Courtesy of</a:t>
            </a:r>
            <a:r>
              <a:rPr lang="en-US" sz="800" dirty="0"/>
              <a:t>: https://</a:t>
            </a:r>
            <a:r>
              <a:rPr lang="en-US" sz="800" dirty="0" err="1"/>
              <a:t>thealevelbiologist.co.uk</a:t>
            </a:r>
            <a:r>
              <a:rPr lang="en-US" sz="800" dirty="0"/>
              <a:t>/sensory-and-motor-areas-in-the-cortex/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42ACA2E-E09E-DF42-99E2-9C38B6740CB4}"/>
              </a:ext>
            </a:extLst>
          </p:cNvPr>
          <p:cNvSpPr/>
          <p:nvPr/>
        </p:nvSpPr>
        <p:spPr>
          <a:xfrm>
            <a:off x="4279392" y="4501419"/>
            <a:ext cx="850392" cy="850392"/>
          </a:xfrm>
          <a:prstGeom prst="ellipse">
            <a:avLst/>
          </a:prstGeom>
          <a:noFill/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343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511684E-2420-4F44-BA8E-41E2E28C2DA4}"/>
              </a:ext>
            </a:extLst>
          </p:cNvPr>
          <p:cNvSpPr txBox="1"/>
          <p:nvPr/>
        </p:nvSpPr>
        <p:spPr>
          <a:xfrm>
            <a:off x="501928" y="3745165"/>
            <a:ext cx="10761472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/>
              <a:t>Data analysis: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Square wave (            ) function with 20s period for task activation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All time course signal intensity normalized between 0 and 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P &lt; 0.001 was used for statistical significance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~ 60 Pixels identified as belong to finger motor cortex by passing the threshold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A finite impulse-response low-pass filter applied with a cut-off frequency of 0.08Hz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60 correlation-coefficient images generated from each resting brain study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Pixels counted with passing correlation-coefficient of 0.35 (i.e., P &lt; 0.001)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4956D6-E539-4342-BC80-3DFB7A8E286E}"/>
              </a:ext>
            </a:extLst>
          </p:cNvPr>
          <p:cNvSpPr/>
          <p:nvPr/>
        </p:nvSpPr>
        <p:spPr>
          <a:xfrm>
            <a:off x="501928" y="896240"/>
            <a:ext cx="6220276" cy="85888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red and white sign&#10;&#10;Description automatically generated">
            <a:extLst>
              <a:ext uri="{FF2B5EF4-FFF2-40B4-BE49-F238E27FC236}">
                <a16:creationId xmlns:a16="http://schemas.microsoft.com/office/drawing/2014/main" id="{1F41B0E6-7341-424D-8868-FC98CC0F0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1419" y="165789"/>
            <a:ext cx="779744" cy="1225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3279A6-5CA6-014A-93CE-9763D0D77F26}"/>
                  </a:ext>
                </a:extLst>
              </p:cNvPr>
              <p:cNvSpPr txBox="1"/>
              <p:nvPr/>
            </p:nvSpPr>
            <p:spPr>
              <a:xfrm>
                <a:off x="388419" y="0"/>
                <a:ext cx="63337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Background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 </a:t>
                </a:r>
                <a:r>
                  <a:rPr lang="en-US" sz="2400" dirty="0"/>
                  <a:t>Methods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 Results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 Conclusion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3279A6-5CA6-014A-93CE-9763D0D77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419" y="0"/>
                <a:ext cx="6333785" cy="461665"/>
              </a:xfrm>
              <a:prstGeom prst="rect">
                <a:avLst/>
              </a:prstGeom>
              <a:blipFill>
                <a:blip r:embed="rId3"/>
                <a:stretch>
                  <a:fillRect l="-1400" t="-10811" r="-400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A463FCAD-78B1-2A46-B91F-0CE49DD67D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754" y="4038684"/>
            <a:ext cx="749300" cy="381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85FF7D3-3BD5-9C4B-A53E-8A018271B52D}"/>
              </a:ext>
            </a:extLst>
          </p:cNvPr>
          <p:cNvSpPr txBox="1"/>
          <p:nvPr/>
        </p:nvSpPr>
        <p:spPr>
          <a:xfrm>
            <a:off x="501928" y="481189"/>
            <a:ext cx="189333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/>
              <a:t>Task design: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AEB2D4-DECD-8541-9EEB-6A9F4AD26B7D}"/>
              </a:ext>
            </a:extLst>
          </p:cNvPr>
          <p:cNvSpPr txBox="1"/>
          <p:nvPr/>
        </p:nvSpPr>
        <p:spPr>
          <a:xfrm>
            <a:off x="501928" y="915764"/>
            <a:ext cx="60885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i="1" u="sng" dirty="0"/>
              <a:t>Rest state</a:t>
            </a:r>
          </a:p>
          <a:p>
            <a:pPr algn="ctr"/>
            <a:r>
              <a:rPr lang="en-US" sz="2200" dirty="0"/>
              <a:t>Refrain any cognitive, language, or motor tasks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CA964E-7872-8243-BEA8-2C1CBD262C08}"/>
              </a:ext>
            </a:extLst>
          </p:cNvPr>
          <p:cNvSpPr/>
          <p:nvPr/>
        </p:nvSpPr>
        <p:spPr>
          <a:xfrm>
            <a:off x="501928" y="1852420"/>
            <a:ext cx="6220276" cy="178014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FCCDB9-316E-FD40-9085-E52A9C88C03A}"/>
              </a:ext>
            </a:extLst>
          </p:cNvPr>
          <p:cNvSpPr txBox="1"/>
          <p:nvPr/>
        </p:nvSpPr>
        <p:spPr>
          <a:xfrm>
            <a:off x="771004" y="1873388"/>
            <a:ext cx="5682132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i="1" u="sng" dirty="0"/>
              <a:t>Task activation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200" dirty="0"/>
              <a:t>Bilateral finger tapping 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200" dirty="0"/>
              <a:t>Tap each finger to the thumb sequentially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200" dirty="0"/>
              <a:t>Without moving arms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200" dirty="0"/>
              <a:t>Other controls: visual experiment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F425CFE-6581-CE41-96B9-D328B6CA4B72}"/>
              </a:ext>
            </a:extLst>
          </p:cNvPr>
          <p:cNvSpPr/>
          <p:nvPr/>
        </p:nvSpPr>
        <p:spPr>
          <a:xfrm>
            <a:off x="6993692" y="1852422"/>
            <a:ext cx="1874645" cy="614995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Rest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616FE02-9AA9-4D4A-8E53-59956582E0F4}"/>
              </a:ext>
            </a:extLst>
          </p:cNvPr>
          <p:cNvSpPr/>
          <p:nvPr/>
        </p:nvSpPr>
        <p:spPr>
          <a:xfrm>
            <a:off x="9018254" y="1852421"/>
            <a:ext cx="1874645" cy="614995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Task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1780A35-C732-954F-AB30-CD2066DC0BDA}"/>
              </a:ext>
            </a:extLst>
          </p:cNvPr>
          <p:cNvSpPr/>
          <p:nvPr/>
        </p:nvSpPr>
        <p:spPr>
          <a:xfrm>
            <a:off x="11042816" y="2051513"/>
            <a:ext cx="161841" cy="16184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CB8498-7D77-8147-90A6-73529B43EDFF}"/>
              </a:ext>
            </a:extLst>
          </p:cNvPr>
          <p:cNvSpPr/>
          <p:nvPr/>
        </p:nvSpPr>
        <p:spPr>
          <a:xfrm>
            <a:off x="11446069" y="2053373"/>
            <a:ext cx="161841" cy="16184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14B9F3E-2D34-9440-A7B1-A272B434A94D}"/>
              </a:ext>
            </a:extLst>
          </p:cNvPr>
          <p:cNvSpPr/>
          <p:nvPr/>
        </p:nvSpPr>
        <p:spPr>
          <a:xfrm>
            <a:off x="11849322" y="2051513"/>
            <a:ext cx="161841" cy="16184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Brace 25">
            <a:extLst>
              <a:ext uri="{FF2B5EF4-FFF2-40B4-BE49-F238E27FC236}">
                <a16:creationId xmlns:a16="http://schemas.microsoft.com/office/drawing/2014/main" id="{19490466-298B-D749-806A-7430769D6650}"/>
              </a:ext>
            </a:extLst>
          </p:cNvPr>
          <p:cNvSpPr/>
          <p:nvPr/>
        </p:nvSpPr>
        <p:spPr>
          <a:xfrm rot="5400000">
            <a:off x="7843412" y="1636563"/>
            <a:ext cx="194071" cy="1855778"/>
          </a:xfrm>
          <a:prstGeom prst="rightBrace">
            <a:avLst/>
          </a:prstGeom>
          <a:noFill/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BD61DB92-A7A9-294D-8CF2-4187E735AA28}"/>
              </a:ext>
            </a:extLst>
          </p:cNvPr>
          <p:cNvSpPr/>
          <p:nvPr/>
        </p:nvSpPr>
        <p:spPr>
          <a:xfrm rot="5400000">
            <a:off x="9867975" y="1630844"/>
            <a:ext cx="194071" cy="1855778"/>
          </a:xfrm>
          <a:prstGeom prst="rightBrace">
            <a:avLst/>
          </a:prstGeom>
          <a:noFill/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C0B95C-01AC-7148-981E-A82C1C784C55}"/>
              </a:ext>
            </a:extLst>
          </p:cNvPr>
          <p:cNvSpPr txBox="1"/>
          <p:nvPr/>
        </p:nvSpPr>
        <p:spPr>
          <a:xfrm>
            <a:off x="7684495" y="2595309"/>
            <a:ext cx="63991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20s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6A2148-FC43-524D-AD09-CE4B0276AF25}"/>
              </a:ext>
            </a:extLst>
          </p:cNvPr>
          <p:cNvSpPr txBox="1"/>
          <p:nvPr/>
        </p:nvSpPr>
        <p:spPr>
          <a:xfrm>
            <a:off x="9720559" y="2595308"/>
            <a:ext cx="63991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20s</a:t>
            </a:r>
          </a:p>
        </p:txBody>
      </p:sp>
    </p:spTree>
    <p:extLst>
      <p:ext uri="{BB962C8B-B14F-4D97-AF65-F5344CB8AC3E}">
        <p14:creationId xmlns:p14="http://schemas.microsoft.com/office/powerpoint/2010/main" val="2371278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and white sign&#10;&#10;Description automatically generated">
            <a:extLst>
              <a:ext uri="{FF2B5EF4-FFF2-40B4-BE49-F238E27FC236}">
                <a16:creationId xmlns:a16="http://schemas.microsoft.com/office/drawing/2014/main" id="{1F41B0E6-7341-424D-8868-FC98CC0F0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1419" y="165789"/>
            <a:ext cx="779744" cy="1225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3279A6-5CA6-014A-93CE-9763D0D77F26}"/>
                  </a:ext>
                </a:extLst>
              </p:cNvPr>
              <p:cNvSpPr txBox="1"/>
              <p:nvPr/>
            </p:nvSpPr>
            <p:spPr>
              <a:xfrm>
                <a:off x="388419" y="0"/>
                <a:ext cx="63337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Background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 Methods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 </a:t>
                </a:r>
                <a:r>
                  <a:rPr lang="en-US" sz="2400" dirty="0"/>
                  <a:t>Results</a:t>
                </a:r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 Conclusion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3279A6-5CA6-014A-93CE-9763D0D77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419" y="0"/>
                <a:ext cx="6333785" cy="461665"/>
              </a:xfrm>
              <a:prstGeom prst="rect">
                <a:avLst/>
              </a:prstGeom>
              <a:blipFill>
                <a:blip r:embed="rId3"/>
                <a:stretch>
                  <a:fillRect l="-1400" t="-10811" r="-400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Diagram, histogram&#10;&#10;Description automatically generated">
            <a:extLst>
              <a:ext uri="{FF2B5EF4-FFF2-40B4-BE49-F238E27FC236}">
                <a16:creationId xmlns:a16="http://schemas.microsoft.com/office/drawing/2014/main" id="{DC291421-9A10-8E4C-8863-C9015BE7197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8" b="48089"/>
          <a:stretch/>
        </p:blipFill>
        <p:spPr>
          <a:xfrm>
            <a:off x="388419" y="1639009"/>
            <a:ext cx="5502584" cy="2871710"/>
          </a:xfrm>
          <a:prstGeom prst="rect">
            <a:avLst/>
          </a:prstGeom>
        </p:spPr>
      </p:pic>
      <p:pic>
        <p:nvPicPr>
          <p:cNvPr id="8" name="Picture 7" descr="Diagram, histogram&#10;&#10;Description automatically generated">
            <a:extLst>
              <a:ext uri="{FF2B5EF4-FFF2-40B4-BE49-F238E27FC236}">
                <a16:creationId xmlns:a16="http://schemas.microsoft.com/office/drawing/2014/main" id="{5EED627F-BD99-3A4A-A78C-A2F797E73B7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48" t="46894" b="1195"/>
          <a:stretch/>
        </p:blipFill>
        <p:spPr>
          <a:xfrm>
            <a:off x="6508579" y="1702396"/>
            <a:ext cx="5502584" cy="287171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D3E9D1B-0D57-8C4F-9194-86522C97709D}"/>
              </a:ext>
            </a:extLst>
          </p:cNvPr>
          <p:cNvCxnSpPr/>
          <p:nvPr/>
        </p:nvCxnSpPr>
        <p:spPr>
          <a:xfrm>
            <a:off x="5599688" y="2990523"/>
            <a:ext cx="1035781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76239C0-149E-5847-9C87-68A279278C6E}"/>
              </a:ext>
            </a:extLst>
          </p:cNvPr>
          <p:cNvSpPr txBox="1"/>
          <p:nvPr/>
        </p:nvSpPr>
        <p:spPr>
          <a:xfrm>
            <a:off x="5770084" y="2432287"/>
            <a:ext cx="5309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chemeClr val="accent1"/>
                </a:solidFill>
              </a:rPr>
              <a:t>FT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9714837F-FFC0-8D4E-A398-C73BA355C617}"/>
              </a:ext>
            </a:extLst>
          </p:cNvPr>
          <p:cNvSpPr txBox="1"/>
          <p:nvPr/>
        </p:nvSpPr>
        <p:spPr>
          <a:xfrm>
            <a:off x="1225017" y="708988"/>
            <a:ext cx="86434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/>
              <a:t>Time course of a pixel in motor cortex and its Fourier transform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843F33-9964-604C-AF40-0E2043778F11}"/>
              </a:ext>
            </a:extLst>
          </p:cNvPr>
          <p:cNvSpPr txBox="1"/>
          <p:nvPr/>
        </p:nvSpPr>
        <p:spPr>
          <a:xfrm>
            <a:off x="1169628" y="4751906"/>
            <a:ext cx="1026274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200" b="1" u="sng" dirty="0"/>
              <a:t>Fluctuations happened at low frequency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200" b="1" u="sng" dirty="0"/>
              <a:t>The significance of these frequency peaks has not yet been investigated</a:t>
            </a:r>
          </a:p>
        </p:txBody>
      </p:sp>
    </p:spTree>
    <p:extLst>
      <p:ext uri="{BB962C8B-B14F-4D97-AF65-F5344CB8AC3E}">
        <p14:creationId xmlns:p14="http://schemas.microsoft.com/office/powerpoint/2010/main" val="1078139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and white sign&#10;&#10;Description automatically generated">
            <a:extLst>
              <a:ext uri="{FF2B5EF4-FFF2-40B4-BE49-F238E27FC236}">
                <a16:creationId xmlns:a16="http://schemas.microsoft.com/office/drawing/2014/main" id="{1F41B0E6-7341-424D-8868-FC98CC0F0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1419" y="165789"/>
            <a:ext cx="779744" cy="1225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3279A6-5CA6-014A-93CE-9763D0D77F26}"/>
                  </a:ext>
                </a:extLst>
              </p:cNvPr>
              <p:cNvSpPr txBox="1"/>
              <p:nvPr/>
            </p:nvSpPr>
            <p:spPr>
              <a:xfrm>
                <a:off x="388419" y="0"/>
                <a:ext cx="63337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Background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 Methods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 </a:t>
                </a:r>
                <a:r>
                  <a:rPr lang="en-US" sz="2400" dirty="0"/>
                  <a:t>Results</a:t>
                </a:r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 Conclusion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3279A6-5CA6-014A-93CE-9763D0D77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419" y="0"/>
                <a:ext cx="6333785" cy="461665"/>
              </a:xfrm>
              <a:prstGeom prst="rect">
                <a:avLst/>
              </a:prstGeom>
              <a:blipFill>
                <a:blip r:embed="rId3"/>
                <a:stretch>
                  <a:fillRect l="-1400" t="-10811" r="-400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36F5D518-BFBF-0342-9B6B-D43525134F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118" y="1254182"/>
            <a:ext cx="10705763" cy="35470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14837F-FFC0-8D4E-A398-C73BA355C617}"/>
              </a:ext>
            </a:extLst>
          </p:cNvPr>
          <p:cNvSpPr txBox="1"/>
          <p:nvPr/>
        </p:nvSpPr>
        <p:spPr>
          <a:xfrm>
            <a:off x="801112" y="642480"/>
            <a:ext cx="637546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Pixel-counting results / Correlation coefficient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4A14C1-2639-C849-BD6A-337AAF06B334}"/>
              </a:ext>
            </a:extLst>
          </p:cNvPr>
          <p:cNvSpPr txBox="1"/>
          <p:nvPr/>
        </p:nvSpPr>
        <p:spPr>
          <a:xfrm>
            <a:off x="2304736" y="4766595"/>
            <a:ext cx="75825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chemeClr val="accent1"/>
                </a:solidFill>
              </a:rPr>
              <a:t>L: left motor cortex </a:t>
            </a:r>
            <a:r>
              <a:rPr lang="en-US" sz="2200" dirty="0">
                <a:solidFill>
                  <a:srgbClr val="92D050"/>
                </a:solidFill>
              </a:rPr>
              <a:t>R: right motor cortex </a:t>
            </a:r>
            <a:r>
              <a:rPr lang="en-US" sz="2200" dirty="0">
                <a:solidFill>
                  <a:srgbClr val="00B0F0"/>
                </a:solidFill>
              </a:rPr>
              <a:t>O: rest of the brain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42ACA2E-E09E-DF42-99E2-9C38B6740CB4}"/>
              </a:ext>
            </a:extLst>
          </p:cNvPr>
          <p:cNvSpPr/>
          <p:nvPr/>
        </p:nvSpPr>
        <p:spPr>
          <a:xfrm>
            <a:off x="9548602" y="1660518"/>
            <a:ext cx="1342800" cy="669988"/>
          </a:xfrm>
          <a:prstGeom prst="ellipse">
            <a:avLst/>
          </a:prstGeom>
          <a:noFill/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A0D55A-368D-D745-BE44-5F8BE66271A5}"/>
              </a:ext>
            </a:extLst>
          </p:cNvPr>
          <p:cNvSpPr txBox="1"/>
          <p:nvPr/>
        </p:nvSpPr>
        <p:spPr>
          <a:xfrm>
            <a:off x="9573965" y="1176242"/>
            <a:ext cx="10951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C00000"/>
                </a:solidFill>
              </a:rPr>
              <a:t>Control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5406AC-B343-E243-8410-AAF0DF1C41C9}"/>
              </a:ext>
            </a:extLst>
          </p:cNvPr>
          <p:cNvSpPr txBox="1"/>
          <p:nvPr/>
        </p:nvSpPr>
        <p:spPr>
          <a:xfrm>
            <a:off x="1694885" y="5372938"/>
            <a:ext cx="91582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u="sng" dirty="0"/>
              <a:t>Connectivity within one region or between regions in the rest study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3D954E-9683-F243-B939-1FDEE2BC306C}"/>
                  </a:ext>
                </a:extLst>
              </p:cNvPr>
              <p:cNvSpPr txBox="1"/>
              <p:nvPr/>
            </p:nvSpPr>
            <p:spPr>
              <a:xfrm>
                <a:off x="4539632" y="1884761"/>
                <a:ext cx="237244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3D954E-9683-F243-B939-1FDEE2BC30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9632" y="1884761"/>
                <a:ext cx="237244" cy="276999"/>
              </a:xfrm>
              <a:prstGeom prst="rect">
                <a:avLst/>
              </a:prstGeom>
              <a:blipFill>
                <a:blip r:embed="rId5"/>
                <a:stretch>
                  <a:fillRect l="-15000" r="-15000" b="-86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0966DA5-3DFE-1E4E-B170-B91386747A39}"/>
                  </a:ext>
                </a:extLst>
              </p:cNvPr>
              <p:cNvSpPr txBox="1"/>
              <p:nvPr/>
            </p:nvSpPr>
            <p:spPr>
              <a:xfrm flipH="1">
                <a:off x="6036779" y="1892170"/>
                <a:ext cx="237244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0966DA5-3DFE-1E4E-B170-B91386747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036779" y="1892170"/>
                <a:ext cx="237244" cy="276999"/>
              </a:xfrm>
              <a:prstGeom prst="rect">
                <a:avLst/>
              </a:prstGeom>
              <a:blipFill>
                <a:blip r:embed="rId6"/>
                <a:stretch>
                  <a:fillRect l="-15789" r="-21053" b="-86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9173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and white sign&#10;&#10;Description automatically generated">
            <a:extLst>
              <a:ext uri="{FF2B5EF4-FFF2-40B4-BE49-F238E27FC236}">
                <a16:creationId xmlns:a16="http://schemas.microsoft.com/office/drawing/2014/main" id="{1F41B0E6-7341-424D-8868-FC98CC0F0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1419" y="165789"/>
            <a:ext cx="779744" cy="1225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3279A6-5CA6-014A-93CE-9763D0D77F26}"/>
                  </a:ext>
                </a:extLst>
              </p:cNvPr>
              <p:cNvSpPr txBox="1"/>
              <p:nvPr/>
            </p:nvSpPr>
            <p:spPr>
              <a:xfrm>
                <a:off x="388419" y="0"/>
                <a:ext cx="63337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Background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 Methods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 </a:t>
                </a:r>
                <a:r>
                  <a:rPr lang="en-US" sz="2400" dirty="0"/>
                  <a:t>Results</a:t>
                </a:r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 Conclusion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3279A6-5CA6-014A-93CE-9763D0D77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419" y="0"/>
                <a:ext cx="6333785" cy="461665"/>
              </a:xfrm>
              <a:prstGeom prst="rect">
                <a:avLst/>
              </a:prstGeom>
              <a:blipFill>
                <a:blip r:embed="rId3"/>
                <a:stretch>
                  <a:fillRect l="-1400" t="-10811" r="-400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Chart, histogram&#10;&#10;Description automatically generated">
            <a:extLst>
              <a:ext uri="{FF2B5EF4-FFF2-40B4-BE49-F238E27FC236}">
                <a16:creationId xmlns:a16="http://schemas.microsoft.com/office/drawing/2014/main" id="{807072E3-321A-EF43-B6D4-FCA42CD8E9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014" y="1548934"/>
            <a:ext cx="9686166" cy="46665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CCB5714-0F74-AA45-95FA-062B3A99B36B}"/>
              </a:ext>
            </a:extLst>
          </p:cNvPr>
          <p:cNvSpPr txBox="1"/>
          <p:nvPr/>
        </p:nvSpPr>
        <p:spPr>
          <a:xfrm>
            <a:off x="801112" y="642480"/>
            <a:ext cx="942437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Histograms of the distribution of correlation coefficients magnitudes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430F47-0A63-964F-A9BA-07604A168ED5}"/>
              </a:ext>
            </a:extLst>
          </p:cNvPr>
          <p:cNvSpPr txBox="1"/>
          <p:nvPr/>
        </p:nvSpPr>
        <p:spPr>
          <a:xfrm>
            <a:off x="5921632" y="1232932"/>
            <a:ext cx="16011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err="1">
                <a:solidFill>
                  <a:schemeClr val="accent1"/>
                </a:solidFill>
              </a:rPr>
              <a:t>n</a:t>
            </a:r>
            <a:r>
              <a:rPr lang="en-US" sz="2200" baseline="-25000" dirty="0" err="1">
                <a:solidFill>
                  <a:schemeClr val="accent1"/>
                </a:solidFill>
              </a:rPr>
              <a:t>LL</a:t>
            </a:r>
            <a:r>
              <a:rPr lang="en-US" sz="2200" dirty="0">
                <a:solidFill>
                  <a:schemeClr val="accent1"/>
                </a:solidFill>
              </a:rPr>
              <a:t> and </a:t>
            </a:r>
            <a:r>
              <a:rPr lang="en-US" sz="2200" dirty="0" err="1">
                <a:solidFill>
                  <a:schemeClr val="accent1"/>
                </a:solidFill>
              </a:rPr>
              <a:t>n</a:t>
            </a:r>
            <a:r>
              <a:rPr lang="en-US" sz="2200" baseline="-25000" dirty="0" err="1">
                <a:solidFill>
                  <a:schemeClr val="accent1"/>
                </a:solidFill>
              </a:rPr>
              <a:t>RR</a:t>
            </a:r>
            <a:endParaRPr lang="en-US" sz="2200" baseline="-25000" dirty="0">
              <a:solidFill>
                <a:schemeClr val="accent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F4191A-A96E-9645-8857-1172F77BC22C}"/>
              </a:ext>
            </a:extLst>
          </p:cNvPr>
          <p:cNvSpPr txBox="1"/>
          <p:nvPr/>
        </p:nvSpPr>
        <p:spPr>
          <a:xfrm>
            <a:off x="3112020" y="1232932"/>
            <a:ext cx="160813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err="1">
                <a:solidFill>
                  <a:schemeClr val="accent1"/>
                </a:solidFill>
              </a:rPr>
              <a:t>n</a:t>
            </a:r>
            <a:r>
              <a:rPr lang="en-US" sz="2200" baseline="-25000" dirty="0" err="1">
                <a:solidFill>
                  <a:schemeClr val="accent1"/>
                </a:solidFill>
              </a:rPr>
              <a:t>LR</a:t>
            </a:r>
            <a:r>
              <a:rPr lang="en-US" sz="2200" dirty="0">
                <a:solidFill>
                  <a:schemeClr val="accent1"/>
                </a:solidFill>
              </a:rPr>
              <a:t> and </a:t>
            </a:r>
            <a:r>
              <a:rPr lang="en-US" sz="2200" dirty="0" err="1">
                <a:solidFill>
                  <a:schemeClr val="accent1"/>
                </a:solidFill>
              </a:rPr>
              <a:t>n</a:t>
            </a:r>
            <a:r>
              <a:rPr lang="en-US" sz="2200" baseline="-25000" dirty="0" err="1">
                <a:solidFill>
                  <a:schemeClr val="accent1"/>
                </a:solidFill>
              </a:rPr>
              <a:t>RL</a:t>
            </a:r>
            <a:endParaRPr lang="en-US" sz="2200" baseline="-25000" dirty="0">
              <a:solidFill>
                <a:schemeClr val="accent1"/>
              </a:solidFill>
            </a:endParaRP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2F5406AC-B343-E243-8410-AAF0DF1C41C9}"/>
              </a:ext>
            </a:extLst>
          </p:cNvPr>
          <p:cNvSpPr txBox="1"/>
          <p:nvPr/>
        </p:nvSpPr>
        <p:spPr>
          <a:xfrm>
            <a:off x="1994963" y="6079385"/>
            <a:ext cx="85122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u="sng" dirty="0"/>
              <a:t>More strongly correlated pixel pairs in the task-activated data </a:t>
            </a:r>
          </a:p>
        </p:txBody>
      </p:sp>
    </p:spTree>
    <p:extLst>
      <p:ext uri="{BB962C8B-B14F-4D97-AF65-F5344CB8AC3E}">
        <p14:creationId xmlns:p14="http://schemas.microsoft.com/office/powerpoint/2010/main" val="3913221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and white sign&#10;&#10;Description automatically generated">
            <a:extLst>
              <a:ext uri="{FF2B5EF4-FFF2-40B4-BE49-F238E27FC236}">
                <a16:creationId xmlns:a16="http://schemas.microsoft.com/office/drawing/2014/main" id="{1F41B0E6-7341-424D-8868-FC98CC0F0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1419" y="165789"/>
            <a:ext cx="779744" cy="1225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3279A6-5CA6-014A-93CE-9763D0D77F26}"/>
                  </a:ext>
                </a:extLst>
              </p:cNvPr>
              <p:cNvSpPr txBox="1"/>
              <p:nvPr/>
            </p:nvSpPr>
            <p:spPr>
              <a:xfrm>
                <a:off x="388419" y="0"/>
                <a:ext cx="63337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Background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 Methods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 </a:t>
                </a:r>
                <a:r>
                  <a:rPr lang="en-US" sz="2400" dirty="0"/>
                  <a:t>Results</a:t>
                </a:r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 Conclusion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3279A6-5CA6-014A-93CE-9763D0D77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419" y="0"/>
                <a:ext cx="6333785" cy="461665"/>
              </a:xfrm>
              <a:prstGeom prst="rect">
                <a:avLst/>
              </a:prstGeom>
              <a:blipFill>
                <a:blip r:embed="rId3"/>
                <a:stretch>
                  <a:fillRect l="-1400" t="-10811" r="-400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close up of a clock&#10;&#10;Description automatically generated">
            <a:extLst>
              <a:ext uri="{FF2B5EF4-FFF2-40B4-BE49-F238E27FC236}">
                <a16:creationId xmlns:a16="http://schemas.microsoft.com/office/drawing/2014/main" id="{2EADB258-6040-B14A-920A-F944E8E644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163" y="603988"/>
            <a:ext cx="7499968" cy="4743716"/>
          </a:xfrm>
          <a:prstGeom prst="rect">
            <a:avLst/>
          </a:prstGeom>
        </p:spPr>
      </p:pic>
      <p:sp>
        <p:nvSpPr>
          <p:cNvPr id="9" name="TextBox 13">
            <a:extLst>
              <a:ext uri="{FF2B5EF4-FFF2-40B4-BE49-F238E27FC236}">
                <a16:creationId xmlns:a16="http://schemas.microsoft.com/office/drawing/2014/main" id="{2F5406AC-B343-E243-8410-AAF0DF1C41C9}"/>
              </a:ext>
            </a:extLst>
          </p:cNvPr>
          <p:cNvSpPr txBox="1"/>
          <p:nvPr/>
        </p:nvSpPr>
        <p:spPr>
          <a:xfrm>
            <a:off x="3146454" y="5490027"/>
            <a:ext cx="651332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u="sng" dirty="0"/>
              <a:t>Correlations with voxels in motor cortex at rest</a:t>
            </a:r>
          </a:p>
        </p:txBody>
      </p:sp>
    </p:spTree>
    <p:extLst>
      <p:ext uri="{BB962C8B-B14F-4D97-AF65-F5344CB8AC3E}">
        <p14:creationId xmlns:p14="http://schemas.microsoft.com/office/powerpoint/2010/main" val="2664799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and white sign&#10;&#10;Description automatically generated">
            <a:extLst>
              <a:ext uri="{FF2B5EF4-FFF2-40B4-BE49-F238E27FC236}">
                <a16:creationId xmlns:a16="http://schemas.microsoft.com/office/drawing/2014/main" id="{1F41B0E6-7341-424D-8868-FC98CC0F0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1419" y="165789"/>
            <a:ext cx="779744" cy="1225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3279A6-5CA6-014A-93CE-9763D0D77F26}"/>
                  </a:ext>
                </a:extLst>
              </p:cNvPr>
              <p:cNvSpPr txBox="1"/>
              <p:nvPr/>
            </p:nvSpPr>
            <p:spPr>
              <a:xfrm>
                <a:off x="388419" y="0"/>
                <a:ext cx="63337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Background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 Methods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 Results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 </a:t>
                </a:r>
                <a:r>
                  <a:rPr lang="en-US" sz="2400" dirty="0"/>
                  <a:t>Conclusion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3279A6-5CA6-014A-93CE-9763D0D77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419" y="0"/>
                <a:ext cx="6333785" cy="461665"/>
              </a:xfrm>
              <a:prstGeom prst="rect">
                <a:avLst/>
              </a:prstGeom>
              <a:blipFill>
                <a:blip r:embed="rId3"/>
                <a:stretch>
                  <a:fillRect l="-1400" t="-10811" r="-400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72F7CD2D-7696-3944-8FAC-A78821E5CAAA}"/>
              </a:ext>
            </a:extLst>
          </p:cNvPr>
          <p:cNvSpPr txBox="1"/>
          <p:nvPr/>
        </p:nvSpPr>
        <p:spPr>
          <a:xfrm>
            <a:off x="704007" y="697817"/>
            <a:ext cx="1052741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Similar fluctuations giving rise to functional connectivity observed in the auditory and visual cortex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General phenomena, not due to imagined motor tasks.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Imaged activation was random for each subject as well as between subjects.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Comparisons using different reference vectors needed for further investigation.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B5337D-CC6C-A64B-B0FD-6CF54433F6C6}"/>
              </a:ext>
            </a:extLst>
          </p:cNvPr>
          <p:cNvSpPr txBox="1"/>
          <p:nvPr/>
        </p:nvSpPr>
        <p:spPr>
          <a:xfrm>
            <a:off x="704007" y="2719073"/>
            <a:ext cx="1011504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Limitations and Future 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Whole-volume RF coil necessary for study correlation of fluctuations across entire brain.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Surface coil can be used to obtain high quality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743E18-2F05-CB40-86B2-CC51CBE220DF}"/>
              </a:ext>
            </a:extLst>
          </p:cNvPr>
          <p:cNvSpPr txBox="1"/>
          <p:nvPr/>
        </p:nvSpPr>
        <p:spPr>
          <a:xfrm>
            <a:off x="704007" y="4504177"/>
            <a:ext cx="1011504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Conclusion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Functionally related brain regions showed correlation of low frequency fluctuations in resting state detected by EPI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Low frequency fluctuation of blood flow and oxygenation is indeed a neurophysiological index.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72309035"/>
      </p:ext>
    </p:extLst>
  </p:cSld>
  <p:clrMapOvr>
    <a:masterClrMapping/>
  </p:clrMapOvr>
</p:sld>
</file>

<file path=ppt/theme/theme1.xml><?xml version="1.0" encoding="utf-8"?>
<a:theme xmlns:a="http://schemas.openxmlformats.org/drawingml/2006/main" name="Widescreen_Red">
  <a:themeElements>
    <a:clrScheme name="UWBrand">
      <a:dk1>
        <a:sysClr val="windowText" lastClr="000000"/>
      </a:dk1>
      <a:lt1>
        <a:srgbClr val="FFFFFF"/>
      </a:lt1>
      <a:dk2>
        <a:srgbClr val="FFFFFF"/>
      </a:dk2>
      <a:lt2>
        <a:srgbClr val="FFFFFF"/>
      </a:lt2>
      <a:accent1>
        <a:srgbClr val="C5050C"/>
      </a:accent1>
      <a:accent2>
        <a:srgbClr val="FF8000"/>
      </a:accent2>
      <a:accent3>
        <a:srgbClr val="FFBF00"/>
      </a:accent3>
      <a:accent4>
        <a:srgbClr val="97B85F"/>
      </a:accent4>
      <a:accent5>
        <a:srgbClr val="6B9999"/>
      </a:accent5>
      <a:accent6>
        <a:srgbClr val="386666"/>
      </a:accent6>
      <a:hlink>
        <a:srgbClr val="0479A8"/>
      </a:hlink>
      <a:folHlink>
        <a:srgbClr val="0479A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7" id="{797804EA-9213-40C0-888D-B5E2D75A5804}" vid="{53165E73-73D5-4386-8BD6-8D56274B0C5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A57B64CE1EAD45B5906C3EF174F134" ma:contentTypeVersion="5" ma:contentTypeDescription="Create a new document." ma:contentTypeScope="" ma:versionID="59658e2e71c589e975e4c4f0138175a6">
  <xsd:schema xmlns:xsd="http://www.w3.org/2001/XMLSchema" xmlns:xs="http://www.w3.org/2001/XMLSchema" xmlns:p="http://schemas.microsoft.com/office/2006/metadata/properties" xmlns:ns2="5f88c23a-1954-4c39-940e-ba1d6719b3ed" targetNamespace="http://schemas.microsoft.com/office/2006/metadata/properties" ma:root="true" ma:fieldsID="d582ff06b4c80c166ef6db8bd34b2d87" ns2:_="">
    <xsd:import namespace="5f88c23a-1954-4c39-940e-ba1d6719b3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88c23a-1954-4c39-940e-ba1d6719b3e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2FC575B-4B66-4B28-AAA2-CA64C535D4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88c23a-1954-4c39-940e-ba1d6719b3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2B55CE8-E128-4D82-807F-F25E0E84AA2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CA9CE50-2A52-4995-94D7-18FA5679AAF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6607</TotalTime>
  <Words>699</Words>
  <Application>Microsoft Macintosh PowerPoint</Application>
  <PresentationFormat>Widescreen</PresentationFormat>
  <Paragraphs>90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 Math</vt:lpstr>
      <vt:lpstr>Wingdings</vt:lpstr>
      <vt:lpstr>Widescreen_Red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UWMP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Leonardo Rivera</dc:creator>
  <cp:lastModifiedBy>RUIYANG ZHAO</cp:lastModifiedBy>
  <cp:revision>87</cp:revision>
  <dcterms:created xsi:type="dcterms:W3CDTF">2019-04-20T00:31:33Z</dcterms:created>
  <dcterms:modified xsi:type="dcterms:W3CDTF">2020-10-27T03:51:15Z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0x01010048A57B64CE1EAD45B5906C3EF174F134</vt:lpwstr>
  </property>
</Properties>
</file>