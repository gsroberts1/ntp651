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5404" r:id="rId1"/>
  </p:sldMasterIdLst>
  <p:notesMasterIdLst>
    <p:notesMasterId r:id="rId9"/>
  </p:notesMasterIdLst>
  <p:handoutMasterIdLst>
    <p:handoutMasterId r:id="rId10"/>
  </p:handoutMasterIdLst>
  <p:sldIdLst>
    <p:sldId id="882" r:id="rId2"/>
    <p:sldId id="890" r:id="rId3"/>
    <p:sldId id="891" r:id="rId4"/>
    <p:sldId id="884" r:id="rId5"/>
    <p:sldId id="883" r:id="rId6"/>
    <p:sldId id="885" r:id="rId7"/>
    <p:sldId id="622" r:id="rId8"/>
  </p:sldIdLst>
  <p:sldSz cx="9144000" cy="6858000" type="screen4x3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2"/>
    <p:restoredTop sz="95853"/>
  </p:normalViewPr>
  <p:slideViewPr>
    <p:cSldViewPr snapToGrid="0">
      <p:cViewPr varScale="1">
        <p:scale>
          <a:sx n="103" d="100"/>
          <a:sy n="103" d="100"/>
        </p:scale>
        <p:origin x="2128" y="184"/>
      </p:cViewPr>
      <p:guideLst>
        <p:guide orient="horz" pos="1966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412"/>
    </p:cViewPr>
  </p:sorterViewPr>
  <p:notesViewPr>
    <p:cSldViewPr snapToGrid="0">
      <p:cViewPr varScale="1">
        <p:scale>
          <a:sx n="84" d="100"/>
          <a:sy n="84" d="100"/>
        </p:scale>
        <p:origin x="392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F300673E-0BDA-B842-82D3-508D2FDD45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C4BA9D90-6AEB-C64D-81C9-7C35FD39D3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6" name="Rectangle 4">
            <a:extLst>
              <a:ext uri="{FF2B5EF4-FFF2-40B4-BE49-F238E27FC236}">
                <a16:creationId xmlns:a16="http://schemas.microsoft.com/office/drawing/2014/main" id="{26539AAD-EF5D-0841-AC71-9E0F020C13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7" name="Rectangle 5">
            <a:extLst>
              <a:ext uri="{FF2B5EF4-FFF2-40B4-BE49-F238E27FC236}">
                <a16:creationId xmlns:a16="http://schemas.microsoft.com/office/drawing/2014/main" id="{2DB6BD87-1F5D-B643-8693-3D5A26FF862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/>
            </a:lvl1pPr>
          </a:lstStyle>
          <a:p>
            <a:fld id="{E9F20F4F-72F5-EB42-9A82-27696F882C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BD0D3B0-02B3-4446-A2CD-B7A466CCEE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B89AEE0-D85E-4B43-948B-BF238447DD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5607A71A-B4FA-6741-8933-6D881ABBB4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5863" y="698500"/>
            <a:ext cx="4654550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A3BA019-25AF-A141-A55A-884F2F346B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0019AFA-935D-9543-B65E-259307FD7A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65F06C1-A67E-A947-8318-7895AA399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/>
            </a:lvl1pPr>
          </a:lstStyle>
          <a:p>
            <a:fld id="{55D5A16C-3BF9-2341-A3F7-6889075DD8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18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03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82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08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06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757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5A16C-3BF9-2341-A3F7-6889075DD89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71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9187B105-0063-CB4F-9E03-6431C2F096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0494A06-8202-2D4A-9E7D-0A143517AE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3D8F0B0-6DB8-224F-9804-ADC67E2016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5F1CFE4-1D4F-F849-AF8C-5B79245FD3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71377730-9BF9-0242-BAA5-D89653C207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F31F3AFE-9CF1-F14E-91CB-D1057BB73C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A75F59B1-9464-1C4E-ADC0-34F5702506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253E3C89-4DF9-C549-82ED-BEA791E53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E76D8AF-1E12-5448-B306-F62F5F8CC354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3E88824A-295E-8647-9FCD-F37B26DAFA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8BAB0D3-4A55-3D4C-9C0A-BB94D5098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1AEF5540-86C7-0E43-8238-8F3C36A655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906343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97F87-2682-F948-B020-18A3675A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EE9222C-1ABA-FA4A-834A-48A3326EE7B6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4420-47D3-134D-92E6-C4B34C2B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8D617-0AF0-6349-9293-AD2F9B40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37F58F2B-7BEF-B647-A8B3-7ECA860CE4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41569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3" indent="0">
              <a:buNone/>
              <a:defRPr sz="1600"/>
            </a:lvl3pPr>
            <a:lvl4pPr marL="1371530" indent="0">
              <a:buNone/>
              <a:defRPr sz="1400"/>
            </a:lvl4pPr>
            <a:lvl5pPr marL="1828706" indent="0">
              <a:buNone/>
              <a:defRPr sz="1400"/>
            </a:lvl5pPr>
            <a:lvl6pPr marL="2285883" indent="0">
              <a:buNone/>
              <a:defRPr sz="1400"/>
            </a:lvl6pPr>
            <a:lvl7pPr marL="2743060" indent="0">
              <a:buNone/>
              <a:defRPr sz="1400"/>
            </a:lvl7pPr>
            <a:lvl8pPr marL="3200236" indent="0">
              <a:buNone/>
              <a:defRPr sz="1400"/>
            </a:lvl8pPr>
            <a:lvl9pPr marL="3657413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47EB-866D-1B40-B0B8-741673AE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F657F6F-AF9F-2243-9592-762D45DC543B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24E87-68E0-B94C-969B-EBB67C19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B5C1-CFA8-C742-A54D-D8494293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67F35F01-6B02-9B45-A4F7-2BF219EB45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7894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1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1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B8B74-FDA9-E24F-B1AA-BDBD3316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0DAA521-B84F-B54C-9A65-A4FB77402A57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86E70-4960-0E4E-A6F7-D96115A9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213" y="6234113"/>
            <a:ext cx="2895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5CF48-1CF5-684F-8803-86E95931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B18BC1A5-61A3-A44D-B2B8-F53ACA03FB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17824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0875D-14E6-034D-9833-762F82E3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A164A0E-9FB9-AD4A-90EA-8F4377895D53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6B5DE-28B0-C34E-A03A-C922794A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1DBA3-C33E-4C48-B802-E084A1E7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B0C0F7A7-9025-3246-8C6D-8DD25F1497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8103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088DF-5E80-EB47-BF52-B63D0FDA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B0D957D-5111-314C-B87C-DC3C93AF73B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63F26-2CA6-2B4D-90FF-AE7210B7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FC3D0-D1D4-5C4C-953F-D96FE1BB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B042AD17-0E78-AE4C-90A1-0BD63E0F0E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2866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D1C843-B8A3-5C4D-BC38-3EB7A40B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2E3488F-5AB8-944B-8219-819522E41021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182A0-1A70-814F-9FAB-410D547A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EDF7D-8702-BB41-B398-B223B2E2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7BD56E90-F99F-7C41-998D-CCF1AA0094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68363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ECB91-38A5-2643-8C6E-9568FA1B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3E36CFA-E0F2-1449-A4CE-E086A17CC3CB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03C2-2B8B-8D48-A732-350EC70E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0EBD2-2AC6-394C-94CB-5C1B6E8F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695A68B6-D6E7-8C48-A356-CB49AA09BB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36816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7C4C0-B80E-BF42-9BF5-0D14F103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7B3E809-9CEC-434A-B7C7-409D399BDF9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FA02E-E6B8-E140-BCA7-484232D2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EBAF-35B5-B244-8A93-5D41CBD9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5900B8B-6065-934F-98F1-23CCFEDB9F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85656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250E3-82C7-0047-A60D-EB778EA2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64B7530-527F-0245-A2A0-1C4B19BDD41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FF2DF-89F7-C94F-B3D2-0B61C711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B9485-1E1B-1A4D-BB34-0A28FA1C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6B7A8BF-2351-4D40-85F1-76B994FC28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47152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4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4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86EF9-7EB2-5144-A0EF-70502D22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99E2921-DACA-C448-95D5-65DB80175B82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A854-E28B-4649-A8BF-BFBEDD9C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1F9AE-FEF9-234D-97C1-B65008DC8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32EB970-C7E5-C34C-B1EB-F3F341B6C9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34182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 descr="Large confetti">
            <a:extLst>
              <a:ext uri="{FF2B5EF4-FFF2-40B4-BE49-F238E27FC236}">
                <a16:creationId xmlns:a16="http://schemas.microsoft.com/office/drawing/2014/main" id="{A94C0EAA-DD88-264D-8304-E9F912AC9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DF3D639-E5BC-F448-B193-5F7082897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FC118E05-D638-6442-94E8-18DECEEE50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8B49019A-6FDE-DE41-9656-D7B2AC8D3862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C422078F-3777-ED46-91E4-B377121DCD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74" r:id="rId1"/>
    <p:sldLayoutId id="2147487675" r:id="rId2"/>
    <p:sldLayoutId id="2147487676" r:id="rId3"/>
    <p:sldLayoutId id="2147487677" r:id="rId4"/>
    <p:sldLayoutId id="2147487678" r:id="rId5"/>
    <p:sldLayoutId id="2147487679" r:id="rId6"/>
    <p:sldLayoutId id="2147487680" r:id="rId7"/>
    <p:sldLayoutId id="2147487681" r:id="rId8"/>
    <p:sldLayoutId id="2147487682" r:id="rId9"/>
    <p:sldLayoutId id="2147487683" r:id="rId10"/>
    <p:sldLayoutId id="2147487684" r:id="rId11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6pPr>
      <a:lvl7pPr marL="914353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7pPr>
      <a:lvl8pPr marL="137153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8pPr>
      <a:lvl9pPr marL="182870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3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471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648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8825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001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sl.fmrib.ox.ac.uk/fsl/fslwiki/Randomise/UserGuid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tiff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9" name="Rectangle 2" descr="Large confetti">
            <a:extLst>
              <a:ext uri="{FF2B5EF4-FFF2-40B4-BE49-F238E27FC236}">
                <a16:creationId xmlns:a16="http://schemas.microsoft.com/office/drawing/2014/main" id="{D409B8F1-07C1-DD49-B001-D2DC30177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2667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Statistical Testing</a:t>
            </a:r>
            <a:endParaRPr lang="en-US" altLang="en-US" sz="4000" b="1" dirty="0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11970" name="Rectangle 3">
            <a:extLst>
              <a:ext uri="{FF2B5EF4-FFF2-40B4-BE49-F238E27FC236}">
                <a16:creationId xmlns:a16="http://schemas.microsoft.com/office/drawing/2014/main" id="{53E149D9-36FC-B34B-9314-E9DD81D24C9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547813"/>
            <a:ext cx="7615238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Compare individuals or groups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General Linear Model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Group Comparison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e.g., FA of Disease vs Control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Individual Differences Comparison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E.g., FA versus Continuous Variable (Age, Cognitive Ability)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Multiple Comparisons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False positive rate for multiple tests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7E15-A3E7-8B41-877F-840021B0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705393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Statistical Testing</a:t>
            </a:r>
          </a:p>
        </p:txBody>
      </p:sp>
      <p:pic>
        <p:nvPicPr>
          <p:cNvPr id="199682" name="Picture 2" descr="enter image description here">
            <a:extLst>
              <a:ext uri="{FF2B5EF4-FFF2-40B4-BE49-F238E27FC236}">
                <a16:creationId xmlns:a16="http://schemas.microsoft.com/office/drawing/2014/main" id="{0F4DE654-CF0C-2241-8F6A-C4FD7E751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5684" y="989556"/>
            <a:ext cx="7352631" cy="40435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11F8A-05EE-0840-9CF5-5A6E73F38C5D}"/>
              </a:ext>
            </a:extLst>
          </p:cNvPr>
          <p:cNvSpPr txBox="1"/>
          <p:nvPr/>
        </p:nvSpPr>
        <p:spPr>
          <a:xfrm>
            <a:off x="240588" y="5408895"/>
            <a:ext cx="90069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Symbol" pitchFamily="2" charset="2"/>
              </a:rPr>
              <a:t>a</a:t>
            </a:r>
            <a:r>
              <a:rPr lang="en-US" sz="2400" b="0" dirty="0"/>
              <a:t>   = failure to accept null hypothesis (Type 1 error - false positive rate)</a:t>
            </a:r>
          </a:p>
          <a:p>
            <a:pPr marL="457200" indent="-457200">
              <a:buFont typeface="Symbol" pitchFamily="2" charset="2"/>
              <a:buChar char="b"/>
            </a:pPr>
            <a:r>
              <a:rPr lang="en-US" sz="2400" b="0" dirty="0"/>
              <a:t>= failure to reject null hypothesis (Type 2 error - false negative rate)</a:t>
            </a:r>
          </a:p>
          <a:p>
            <a:r>
              <a:rPr lang="en-US" sz="2400" b="0" dirty="0">
                <a:latin typeface="Symbol" pitchFamily="2" charset="2"/>
              </a:rPr>
              <a:t>d</a:t>
            </a:r>
            <a:r>
              <a:rPr lang="en-US" sz="2400" b="0" dirty="0"/>
              <a:t>   = effect size         n = sample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F0EAE-93B1-7740-8C9F-4A339D9F112B}"/>
              </a:ext>
            </a:extLst>
          </p:cNvPr>
          <p:cNvSpPr txBox="1"/>
          <p:nvPr/>
        </p:nvSpPr>
        <p:spPr>
          <a:xfrm>
            <a:off x="3582444" y="4993910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/>
              <a:t>0                          </a:t>
            </a:r>
            <a:r>
              <a:rPr lang="en-US" sz="2000" b="0" dirty="0">
                <a:latin typeface="Symbol" pitchFamily="2" charset="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51910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7E15-A3E7-8B41-877F-840021B0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705393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Statistical Power</a:t>
            </a:r>
          </a:p>
        </p:txBody>
      </p:sp>
      <p:pic>
        <p:nvPicPr>
          <p:cNvPr id="199682" name="Picture 2" descr="enter image description here">
            <a:extLst>
              <a:ext uri="{FF2B5EF4-FFF2-40B4-BE49-F238E27FC236}">
                <a16:creationId xmlns:a16="http://schemas.microsoft.com/office/drawing/2014/main" id="{0F4DE654-CF0C-2241-8F6A-C4FD7E751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5684" y="989556"/>
            <a:ext cx="7352631" cy="40435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C11F8A-05EE-0840-9CF5-5A6E73F38C5D}"/>
              </a:ext>
            </a:extLst>
          </p:cNvPr>
          <p:cNvSpPr txBox="1"/>
          <p:nvPr/>
        </p:nvSpPr>
        <p:spPr>
          <a:xfrm>
            <a:off x="240587" y="5408895"/>
            <a:ext cx="8007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1-</a:t>
            </a:r>
            <a:r>
              <a:rPr lang="en-US" sz="2400" b="0" dirty="0">
                <a:latin typeface="Symbol" pitchFamily="2" charset="2"/>
              </a:rPr>
              <a:t>b</a:t>
            </a:r>
            <a:r>
              <a:rPr lang="en-US" sz="2400" b="0" dirty="0"/>
              <a:t> = Power   (typically 80-90%)</a:t>
            </a:r>
          </a:p>
          <a:p>
            <a:r>
              <a:rPr lang="en-US" sz="2400" b="0" dirty="0">
                <a:latin typeface="Symbol" pitchFamily="2" charset="2"/>
              </a:rPr>
              <a:t>d</a:t>
            </a:r>
            <a:r>
              <a:rPr lang="en-US" sz="2400" b="0" dirty="0"/>
              <a:t>   = effect size    n = sample size     </a:t>
            </a:r>
            <a:r>
              <a:rPr lang="en-US" sz="2400" b="0" dirty="0">
                <a:latin typeface="Symbol" pitchFamily="2" charset="2"/>
              </a:rPr>
              <a:t>a</a:t>
            </a:r>
            <a:r>
              <a:rPr lang="en-US" sz="2400" b="0" dirty="0"/>
              <a:t>   = Type 1 error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F0EAE-93B1-7740-8C9F-4A339D9F112B}"/>
              </a:ext>
            </a:extLst>
          </p:cNvPr>
          <p:cNvSpPr txBox="1"/>
          <p:nvPr/>
        </p:nvSpPr>
        <p:spPr>
          <a:xfrm>
            <a:off x="3582444" y="4993910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/>
              <a:t>0                          </a:t>
            </a:r>
            <a:r>
              <a:rPr lang="en-US" sz="2000" b="0" dirty="0">
                <a:latin typeface="Symbol" pitchFamily="2" charset="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453089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7" name="Rectangle 2" descr="Large confetti">
            <a:extLst>
              <a:ext uri="{FF2B5EF4-FFF2-40B4-BE49-F238E27FC236}">
                <a16:creationId xmlns:a16="http://schemas.microsoft.com/office/drawing/2014/main" id="{BAD2C8FF-9B69-3348-A646-5D9B72248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266700"/>
            <a:ext cx="7772400" cy="757238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Multiple Comparisons</a:t>
            </a:r>
            <a:endParaRPr lang="en-US" altLang="en-US" sz="4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14018" name="Rectangle 3">
            <a:extLst>
              <a:ext uri="{FF2B5EF4-FFF2-40B4-BE49-F238E27FC236}">
                <a16:creationId xmlns:a16="http://schemas.microsoft.com/office/drawing/2014/main" id="{08D5AA7A-5CF5-7940-9A29-A1F9D008EE9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008063"/>
            <a:ext cx="7615238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Significance level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Typical</a:t>
            </a:r>
            <a:r>
              <a:rPr lang="en-US" altLang="en-US" sz="1600" b="1" dirty="0">
                <a:latin typeface="Symbol" pitchFamily="2" charset="2"/>
                <a:ea typeface="ＭＳ Ｐゴシック" panose="020B0600070205080204" pitchFamily="34" charset="-128"/>
              </a:rPr>
              <a:t> a</a:t>
            </a: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 &lt; 0.05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Likelihood of a false-positive result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Repeated testing – increases probability of false positives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100 tests – 5 false positives – even if there are no differences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False positives increase with number of tests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Single region - 1 test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Voxel-based – thousands of tests – </a:t>
            </a:r>
            <a:r>
              <a:rPr lang="en-US" altLang="en-US" sz="1600" b="1" dirty="0" err="1">
                <a:latin typeface="Optima" panose="02000503060000020004" pitchFamily="2" charset="0"/>
                <a:ea typeface="ＭＳ Ｐゴシック" panose="020B0600070205080204" pitchFamily="34" charset="-128"/>
              </a:rPr>
              <a:t>Nx</a:t>
            </a: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 x Ny x </a:t>
            </a:r>
            <a:r>
              <a:rPr lang="en-US" altLang="en-US" sz="1600" b="1" dirty="0" err="1">
                <a:latin typeface="Optima" panose="02000503060000020004" pitchFamily="2" charset="0"/>
                <a:ea typeface="ＭＳ Ｐゴシック" panose="020B0600070205080204" pitchFamily="34" charset="-128"/>
              </a:rPr>
              <a:t>Nz</a:t>
            </a: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 (limited to brain)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Multiple Comparisons Corrections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Bonferroni – </a:t>
            </a:r>
            <a:r>
              <a:rPr lang="en-US" altLang="en-US" sz="1600" b="1" dirty="0"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/N</a:t>
            </a:r>
          </a:p>
          <a:p>
            <a:pPr lvl="2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2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ROI testing (small N)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Familywise Error Rate, False Discovery Rate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6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Cluster Correction </a:t>
            </a:r>
          </a:p>
          <a:p>
            <a:pPr lvl="2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2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Threshold Free Cluster Enhancement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1800" b="1" dirty="0">
              <a:latin typeface="Optima" panose="02000503060000020004" pitchFamily="2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1600" b="1" dirty="0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Rectangle 2" descr="Large confetti">
            <a:extLst>
              <a:ext uri="{FF2B5EF4-FFF2-40B4-BE49-F238E27FC236}">
                <a16:creationId xmlns:a16="http://schemas.microsoft.com/office/drawing/2014/main" id="{E9680ED0-4A6A-F345-A0AF-77BA731B8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266700"/>
            <a:ext cx="7772400" cy="757238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t-test</a:t>
            </a:r>
            <a:endParaRPr lang="en-US" altLang="en-US" sz="4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12994" name="Rectangle 3">
            <a:extLst>
              <a:ext uri="{FF2B5EF4-FFF2-40B4-BE49-F238E27FC236}">
                <a16:creationId xmlns:a16="http://schemas.microsoft.com/office/drawing/2014/main" id="{535C72CC-C93F-CD4D-8EA9-78D8F555CC1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008063"/>
            <a:ext cx="7615238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Two-sample t-test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Alternate Hypothesis: the group means are significantly different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More stable for larger sample sizes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Estimate means &amp; standard dev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Degrees of Freedom – n1+n2-2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Significance level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Typical</a:t>
            </a:r>
            <a:r>
              <a:rPr lang="en-US" altLang="en-US" sz="2000" b="1">
                <a:latin typeface="Symbol" pitchFamily="2" charset="2"/>
                <a:ea typeface="ＭＳ Ｐゴシック" panose="020B0600070205080204" pitchFamily="34" charset="-128"/>
              </a:rPr>
              <a:t> a</a:t>
            </a: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 &lt; 0.05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Likelihood of false-positive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Probability 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p&lt;</a:t>
            </a:r>
            <a:r>
              <a:rPr lang="en-US" altLang="en-US" sz="2000" b="1"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 – significant differences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24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2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212997" name="Picture 1">
            <a:extLst>
              <a:ext uri="{FF2B5EF4-FFF2-40B4-BE49-F238E27FC236}">
                <a16:creationId xmlns:a16="http://schemas.microsoft.com/office/drawing/2014/main" id="{492ABF04-AC0E-FE4C-8C49-2AC27EFDB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6900" y="3435350"/>
            <a:ext cx="2624138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8" name="Rectangle 2">
            <a:extLst>
              <a:ext uri="{FF2B5EF4-FFF2-40B4-BE49-F238E27FC236}">
                <a16:creationId xmlns:a16="http://schemas.microsoft.com/office/drawing/2014/main" id="{6DFB580D-E1FE-1348-982A-A7CEE4519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4114800"/>
            <a:ext cx="2171700" cy="1624013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2400" b="0"/>
          </a:p>
        </p:txBody>
      </p:sp>
      <p:sp>
        <p:nvSpPr>
          <p:cNvPr id="212999" name="TextBox 3">
            <a:extLst>
              <a:ext uri="{FF2B5EF4-FFF2-40B4-BE49-F238E27FC236}">
                <a16:creationId xmlns:a16="http://schemas.microsoft.com/office/drawing/2014/main" id="{F3EEC66D-9410-384D-8845-A40C38443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313" y="5738813"/>
            <a:ext cx="252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Standard error</a:t>
            </a:r>
          </a:p>
        </p:txBody>
      </p:sp>
      <p:pic>
        <p:nvPicPr>
          <p:cNvPr id="213000" name="Picture 4">
            <a:extLst>
              <a:ext uri="{FF2B5EF4-FFF2-40B4-BE49-F238E27FC236}">
                <a16:creationId xmlns:a16="http://schemas.microsoft.com/office/drawing/2014/main" id="{EB5F1A2A-D367-5543-979A-4F468B565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6988" y="2025650"/>
            <a:ext cx="19240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Rectangle 2" descr="Large confetti">
            <a:extLst>
              <a:ext uri="{FF2B5EF4-FFF2-40B4-BE49-F238E27FC236}">
                <a16:creationId xmlns:a16="http://schemas.microsoft.com/office/drawing/2014/main" id="{C2BDA935-CC35-B041-8466-721B3E4E0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12713"/>
            <a:ext cx="7772400" cy="757237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Statistical Testing in FSL (voxelwise)</a:t>
            </a:r>
            <a:endParaRPr lang="en-US" altLang="en-US" sz="36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15042" name="Rectangle 3">
            <a:extLst>
              <a:ext uri="{FF2B5EF4-FFF2-40B4-BE49-F238E27FC236}">
                <a16:creationId xmlns:a16="http://schemas.microsoft.com/office/drawing/2014/main" id="{9A68B6C9-EBAD-E14E-BB27-9461F924EA6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00050" y="869950"/>
            <a:ext cx="7615238" cy="2835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Randomise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  <a:hlinkClick r:id="rId3"/>
              </a:rPr>
              <a:t>https://fsl.fmrib.ox.ac.uk/fsl/fslwiki/Randomise/UserGuide</a:t>
            </a: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800" b="1">
                <a:latin typeface="Optima" panose="02000503060000020004" pitchFamily="2" charset="0"/>
                <a:ea typeface="ＭＳ Ｐゴシック" panose="020B0600070205080204" pitchFamily="34" charset="-128"/>
              </a:rPr>
              <a:t>Two-Sample T-test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randomise -i TwoSamp4D -o TwoSampT -d design.mat -t design.con -m mask –T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-d  design matrix input (1 or -1 for each person)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-t  t contrast file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-m  mask file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1400" b="1">
                <a:latin typeface="Optima" panose="02000503060000020004" pitchFamily="2" charset="0"/>
                <a:ea typeface="ＭＳ Ｐゴシック" panose="020B0600070205080204" pitchFamily="34" charset="-128"/>
              </a:rPr>
              <a:t>-T  threshold free cluster enhancement option – multiple comparisons correction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2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endParaRPr lang="en-US" altLang="en-US" sz="18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15044" name="Footer Placeholder 4">
            <a:extLst>
              <a:ext uri="{FF2B5EF4-FFF2-40B4-BE49-F238E27FC236}">
                <a16:creationId xmlns:a16="http://schemas.microsoft.com/office/drawing/2014/main" id="{3CB83936-905A-9E40-95F8-27DE3F15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20374E"/>
                </a:solidFill>
              </a:rPr>
              <a:t>Alexander – DTI Analysis</a:t>
            </a:r>
          </a:p>
        </p:txBody>
      </p:sp>
      <p:pic>
        <p:nvPicPr>
          <p:cNvPr id="215045" name="Picture 2">
            <a:extLst>
              <a:ext uri="{FF2B5EF4-FFF2-40B4-BE49-F238E27FC236}">
                <a16:creationId xmlns:a16="http://schemas.microsoft.com/office/drawing/2014/main" id="{FC189903-4A6E-3642-9CA4-E1D640167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3100" y="4079875"/>
            <a:ext cx="55435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>
            <a:extLst>
              <a:ext uri="{FF2B5EF4-FFF2-40B4-BE49-F238E27FC236}">
                <a16:creationId xmlns:a16="http://schemas.microsoft.com/office/drawing/2014/main" id="{CD74B98D-2D69-E047-B79F-196898278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513" y="228600"/>
            <a:ext cx="7772400" cy="787398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Permutation Testing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0" name="Rectangle 3">
            <a:extLst>
              <a:ext uri="{FF2B5EF4-FFF2-40B4-BE49-F238E27FC236}">
                <a16:creationId xmlns:a16="http://schemas.microsoft.com/office/drawing/2014/main" id="{07E94247-700F-4947-BDEB-B8B27E79B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2300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00"/>
              </a:solidFill>
            </a:endParaRPr>
          </a:p>
        </p:txBody>
      </p:sp>
      <p:sp>
        <p:nvSpPr>
          <p:cNvPr id="135171" name="Text Box 4">
            <a:extLst>
              <a:ext uri="{FF2B5EF4-FFF2-40B4-BE49-F238E27FC236}">
                <a16:creationId xmlns:a16="http://schemas.microsoft.com/office/drawing/2014/main" id="{29212022-D8D4-A842-8A1F-D82740953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1160463"/>
            <a:ext cx="8348662" cy="473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Repeated shuffling of samples (typically 1000’s iterations)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Group 1: A  B  C   D   E   F   G   H     Group 2: M  N  O   P   Q   R   S   T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Sample 1: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Group 1: CTDOMFRQ   Group 2: BNEGHPAS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Sample 2: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 Group 1: QNECBRSM  Group 2: ADTFPGHO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Sample 3: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…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Generate Statistics from Resampled Data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135172" name="Rectangle 5">
            <a:extLst>
              <a:ext uri="{FF2B5EF4-FFF2-40B4-BE49-F238E27FC236}">
                <a16:creationId xmlns:a16="http://schemas.microsoft.com/office/drawing/2014/main" id="{E7BCC81F-41E6-B74D-8D98-84FE06312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-123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00"/>
              </a:solidFill>
            </a:endParaRPr>
          </a:p>
        </p:txBody>
      </p:sp>
      <p:pic>
        <p:nvPicPr>
          <p:cNvPr id="197638" name="Picture 6" descr="monte carlo | Daniel Nee">
            <a:extLst>
              <a:ext uri="{FF2B5EF4-FFF2-40B4-BE49-F238E27FC236}">
                <a16:creationId xmlns:a16="http://schemas.microsoft.com/office/drawing/2014/main" id="{EE748677-C8E1-504C-9BBF-61067045E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76667" y="3282601"/>
            <a:ext cx="33528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09AA73-9D06-1741-97DF-E28167907B08}"/>
              </a:ext>
            </a:extLst>
          </p:cNvPr>
          <p:cNvSpPr txBox="1"/>
          <p:nvPr/>
        </p:nvSpPr>
        <p:spPr>
          <a:xfrm>
            <a:off x="7678456" y="3528547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Observation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BB0DE-26FF-1D49-8DB5-1DFC03761D5E}"/>
              </a:ext>
            </a:extLst>
          </p:cNvPr>
          <p:cNvSpPr/>
          <p:nvPr/>
        </p:nvSpPr>
        <p:spPr bwMode="auto">
          <a:xfrm>
            <a:off x="7683781" y="4634630"/>
            <a:ext cx="746236" cy="61064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0A-E9B3-5B4A-BA49-9AAE7F51E216}"/>
              </a:ext>
            </a:extLst>
          </p:cNvPr>
          <p:cNvSpPr txBox="1"/>
          <p:nvPr/>
        </p:nvSpPr>
        <p:spPr>
          <a:xfrm>
            <a:off x="7731915" y="4356951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p-value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6FE2C-2B96-FD4C-BC41-E2D5607EBA82}"/>
              </a:ext>
            </a:extLst>
          </p:cNvPr>
          <p:cNvSpPr txBox="1"/>
          <p:nvPr/>
        </p:nvSpPr>
        <p:spPr>
          <a:xfrm>
            <a:off x="1243890" y="5896631"/>
            <a:ext cx="5796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robust than parametric testing</a:t>
            </a:r>
          </a:p>
        </p:txBody>
      </p:sp>
    </p:spTree>
    <p:extLst>
      <p:ext uri="{BB962C8B-B14F-4D97-AF65-F5344CB8AC3E}">
        <p14:creationId xmlns:p14="http://schemas.microsoft.com/office/powerpoint/2010/main" val="40147748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andstoneAA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419</Words>
  <Application>Microsoft Macintosh PowerPoint</Application>
  <PresentationFormat>On-screen Show (4:3)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Optima</vt:lpstr>
      <vt:lpstr>Symbol</vt:lpstr>
      <vt:lpstr>Times New Roman</vt:lpstr>
      <vt:lpstr>Wingdings</vt:lpstr>
      <vt:lpstr>sandstoneAA</vt:lpstr>
      <vt:lpstr>Statistical Testing</vt:lpstr>
      <vt:lpstr>Statistical Testing</vt:lpstr>
      <vt:lpstr>Statistical Power</vt:lpstr>
      <vt:lpstr>Multiple Comparisons</vt:lpstr>
      <vt:lpstr>t-test</vt:lpstr>
      <vt:lpstr>Statistical Testing in FSL (voxelwise)</vt:lpstr>
      <vt:lpstr>Permutation Testing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DTI Data with Voxel-Based Analyses</dc:title>
  <dc:subject/>
  <dc:creator>ANDREW L ALEXANDER</dc:creator>
  <cp:keywords/>
  <dc:description/>
  <cp:lastModifiedBy>ANDREW L ALEXANDER</cp:lastModifiedBy>
  <cp:revision>16</cp:revision>
  <dcterms:created xsi:type="dcterms:W3CDTF">2020-10-26T19:14:50Z</dcterms:created>
  <dcterms:modified xsi:type="dcterms:W3CDTF">2020-10-27T22:14:48Z</dcterms:modified>
  <cp:category/>
</cp:coreProperties>
</file>