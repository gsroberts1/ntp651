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Economica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regular.fntdata"/><Relationship Id="rId22" Type="http://schemas.openxmlformats.org/officeDocument/2006/relationships/font" Target="fonts/Economica-italic.fntdata"/><Relationship Id="rId21" Type="http://schemas.openxmlformats.org/officeDocument/2006/relationships/font" Target="fonts/Economica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Economic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10.5 min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9db697b78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9db697b78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9a984c868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9a984c868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9db697b78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9db697b78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9db697b7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9db697b7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9db697b7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9db697b7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9db697b78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9db697b78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9db697b78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9db697b78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9db697b78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9db697b78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9db697b78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9db697b78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9db697b78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9db697b78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9db697b78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9db697b78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9db697b78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9db697b78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9a984c868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9a984c868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232113" y="1224850"/>
            <a:ext cx="2180123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2425650" y="1224849"/>
            <a:ext cx="4292700" cy="157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044700" y="29641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None/>
              <a:defRPr sz="21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>
            <a:off x="4464663" y="2628025"/>
            <a:ext cx="2180123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eanette Luxe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121900"/>
            <a:ext cx="9144000" cy="978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  <a:defRPr sz="3000"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>
              <a:spcBef>
                <a:spcPts val="1600"/>
              </a:spcBef>
              <a:spcAft>
                <a:spcPts val="0"/>
              </a:spcAft>
              <a:buSzPts val="2600"/>
              <a:buFont typeface="Calibri"/>
              <a:buChar char="○"/>
              <a:defRPr sz="2600"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>
              <a:spcBef>
                <a:spcPts val="1600"/>
              </a:spcBef>
              <a:spcAft>
                <a:spcPts val="0"/>
              </a:spcAft>
              <a:buSzPts val="2200"/>
              <a:buFont typeface="Calibri"/>
              <a:buChar char="■"/>
              <a:defRPr sz="22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228450" y="1224850"/>
            <a:ext cx="4378200" cy="15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</a:rPr>
              <a:t>Regression</a:t>
            </a:r>
            <a:endParaRPr b="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(3 of 4)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2269250" y="2964175"/>
            <a:ext cx="43374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Jeanette Mumford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6207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 to ask questions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(anonymous, but be polite) 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3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3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3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tinyurl.com/questions-for-jeanette</a:t>
            </a:r>
            <a:endParaRPr sz="4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Introduce contrasts of parameter estimates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Practice a little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That’s it!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contrasts?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The t-stats (z-stats) we estimate correspond to the contrasts we specify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Contrasts link our hypotheses to our statistics!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75" y="726013"/>
            <a:ext cx="6242726" cy="36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6629225" y="736575"/>
            <a:ext cx="21951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How do we test a group difference?</a:t>
            </a:r>
            <a:endParaRPr b="1" sz="20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Contrasts</a:t>
            </a:r>
            <a:endParaRPr b="1" i="1" sz="20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Contrasts: General idea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25225"/>
            <a:ext cx="4403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Start with a contrast statement for your hypothesis (in betas)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Rearrange so you have “something” &gt; 0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Find a vector, c, so       cB = “something”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Contrasts: General idea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225225"/>
            <a:ext cx="4403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Start with a contrast statement for your hypothesis (in betas)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Rearrange so you have “something” &gt; 0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Find a vector, c, so       cB = “something”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715400" y="1287875"/>
            <a:ext cx="4403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Is G1 &gt; G2?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(B1 &gt; B2)</a:t>
            </a:r>
            <a:endParaRPr/>
          </a:p>
          <a:p>
            <a:pPr indent="-419100" lvl="0" marL="457200" rtl="0" algn="l">
              <a:spcBef>
                <a:spcPts val="1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B1 - B2 &gt; 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1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 = [1 -1]  (cB) = B1 - B2</a:t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7021400" y="1498175"/>
            <a:ext cx="2029800" cy="12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IMPORTANT</a:t>
            </a:r>
            <a:endParaRPr b="1" sz="17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Use &gt; not &lt;!</a:t>
            </a:r>
            <a:endParaRPr b="1" sz="17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For B1&lt;B2 you’d use B2 &gt; B1</a:t>
            </a:r>
            <a:endParaRPr b="1" sz="17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linear regression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700" y="1470750"/>
            <a:ext cx="75247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863050" y="2656175"/>
            <a:ext cx="3556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Open Sans"/>
                <a:ea typeface="Open Sans"/>
                <a:cs typeface="Open Sans"/>
                <a:sym typeface="Open Sans"/>
              </a:rPr>
              <a:t>Positive age effect?</a:t>
            </a:r>
            <a:endParaRPr b="1" sz="1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Open Sans"/>
                <a:ea typeface="Open Sans"/>
                <a:cs typeface="Open Sans"/>
                <a:sym typeface="Open Sans"/>
              </a:rPr>
              <a:t>Negative age effect?</a:t>
            </a:r>
            <a:endParaRPr b="1" sz="1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linear regression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700" y="1470750"/>
            <a:ext cx="75247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863050" y="2656175"/>
            <a:ext cx="4114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Open Sans"/>
                <a:ea typeface="Open Sans"/>
                <a:cs typeface="Open Sans"/>
                <a:sym typeface="Open Sans"/>
              </a:rPr>
              <a:t>Positive age effect?     </a:t>
            </a:r>
            <a:r>
              <a:rPr b="1" lang="en" sz="19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lang="en" sz="1900">
                <a:latin typeface="Open Sans"/>
                <a:ea typeface="Open Sans"/>
                <a:cs typeface="Open Sans"/>
                <a:sym typeface="Open Sans"/>
              </a:rPr>
              <a:t> = [0, 1]</a:t>
            </a:r>
            <a:endParaRPr b="1" sz="1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Open Sans"/>
                <a:ea typeface="Open Sans"/>
                <a:cs typeface="Open Sans"/>
                <a:sym typeface="Open Sans"/>
              </a:rPr>
              <a:t>Negative age effect?   </a:t>
            </a:r>
            <a:r>
              <a:rPr b="1" lang="en" sz="1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 = [0, -1]</a:t>
            </a:r>
            <a:endParaRPr b="1" sz="1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1-way ANOVA with 3 levels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350" y="1716275"/>
            <a:ext cx="8839198" cy="52843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/>
        </p:nvSpPr>
        <p:spPr>
          <a:xfrm>
            <a:off x="543125" y="2604075"/>
            <a:ext cx="6354000" cy="23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Open Sans"/>
                <a:ea typeface="Open Sans"/>
                <a:cs typeface="Open Sans"/>
                <a:sym typeface="Open Sans"/>
              </a:rPr>
              <a:t>G1 &gt; G2?</a:t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Open Sans"/>
                <a:ea typeface="Open Sans"/>
                <a:cs typeface="Open Sans"/>
                <a:sym typeface="Open Sans"/>
              </a:rPr>
              <a:t>G2 &gt; G3?</a:t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Open Sans"/>
                <a:ea typeface="Open Sans"/>
                <a:cs typeface="Open Sans"/>
                <a:sym typeface="Open Sans"/>
              </a:rPr>
              <a:t>G1 &gt; G3?</a:t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1-way ANOVA with 3 levels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350" y="1716275"/>
            <a:ext cx="8839198" cy="52843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543125" y="2604075"/>
            <a:ext cx="6354000" cy="23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Open Sans"/>
                <a:ea typeface="Open Sans"/>
                <a:cs typeface="Open Sans"/>
                <a:sym typeface="Open Sans"/>
              </a:rPr>
              <a:t>G1 &gt; G2?            </a:t>
            </a:r>
            <a:r>
              <a:rPr b="1" lang="en" sz="20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lang="en" sz="2000">
                <a:latin typeface="Open Sans"/>
                <a:ea typeface="Open Sans"/>
                <a:cs typeface="Open Sans"/>
                <a:sym typeface="Open Sans"/>
              </a:rPr>
              <a:t> = [1 -1 0]</a:t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Open Sans"/>
                <a:ea typeface="Open Sans"/>
                <a:cs typeface="Open Sans"/>
                <a:sym typeface="Open Sans"/>
              </a:rPr>
              <a:t>G2 &gt; G3?            </a:t>
            </a: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 = [0 1 -1]</a:t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Open Sans"/>
                <a:ea typeface="Open Sans"/>
                <a:cs typeface="Open Sans"/>
                <a:sym typeface="Open Sans"/>
              </a:rPr>
              <a:t>G1 &gt; G3?             </a:t>
            </a: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 = [1 0 -1]</a:t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F-tests?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F-test is any group comparison different from 0?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Is G1=G3 or G2 = G3?</a:t>
            </a:r>
            <a:endParaRPr/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/>
              <a:t>Note: it is redundant to then test if G1=G3 or G2=G1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F-tests simultaneously test multiple contrasts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Contrast </a:t>
            </a:r>
            <a:r>
              <a:rPr i="1" lang="en"/>
              <a:t>matrix</a:t>
            </a:r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575" y="3695700"/>
            <a:ext cx="4212900" cy="130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F-tests are omnibus tests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If the F-test is significant, then the separate t-tests are used to figure out what the F-test found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One F-test can be used in place of many t-tests, so should be used to cut down on multiple comparisons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Eg if my f-test isn’t significant, I have no reason to then look at the 3 group comparisons!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it!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