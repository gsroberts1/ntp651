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Economica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Economica-bold.fntdata"/><Relationship Id="rId27" Type="http://schemas.openxmlformats.org/officeDocument/2006/relationships/font" Target="fonts/Economic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Economica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 min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a984c86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a984c86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caeb61a4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caeb61a4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caeb61a4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9caeb61a4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9caeb61a4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9caeb61a4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9caeb61a4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9caeb61a4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9caeb61a4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9caeb61a4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aeb61a4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aeb61a4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9caeb61a4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9caeb61a4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caeb61a4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caeb61a4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9caeb61a4f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9caeb61a4f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9caeb61a4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9caeb61a4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caeb61a4f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caeb61a4f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9caeb61a4f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9caeb61a4f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caeb61a4f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caeb61a4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caeb61a4f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caeb61a4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9caeb61a4f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9caeb61a4f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9caeb61a4f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9caeb61a4f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9a984c86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9a984c86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9a984c86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9a984c86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9a984c86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9a984c86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232113" y="1224850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425650" y="1224849"/>
            <a:ext cx="4292700" cy="15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44700" y="29641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4464663" y="2628025"/>
            <a:ext cx="2180123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eanette Lux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121900"/>
            <a:ext cx="9144000" cy="978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>
              <a:spcBef>
                <a:spcPts val="1600"/>
              </a:spcBef>
              <a:spcAft>
                <a:spcPts val="0"/>
              </a:spcAft>
              <a:buSzPts val="2600"/>
              <a:buFont typeface="Calibri"/>
              <a:buChar char="○"/>
              <a:defRPr sz="2600"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>
              <a:spcBef>
                <a:spcPts val="1600"/>
              </a:spcBef>
              <a:spcAft>
                <a:spcPts val="0"/>
              </a:spcAft>
              <a:buSzPts val="2200"/>
              <a:buFont typeface="Calibri"/>
              <a:buChar char="■"/>
              <a:defRPr sz="2200"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252350" y="1224850"/>
            <a:ext cx="4353300" cy="15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</a:rPr>
              <a:t>Regression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(1 of 4)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364300" y="2964175"/>
            <a:ext cx="42414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Jeanette Mumford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Basic understanding that regression is fitting a line to your data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Know what a residual is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Understand what “adjusting” means in the regression sense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AKA, having more than one regressor in your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</a:t>
            </a:r>
            <a:endParaRPr/>
          </a:p>
        </p:txBody>
      </p:sp>
      <p:cxnSp>
        <p:nvCxnSpPr>
          <p:cNvPr id="75" name="Google Shape;75;p15"/>
          <p:cNvCxnSpPr/>
          <p:nvPr/>
        </p:nvCxnSpPr>
        <p:spPr>
          <a:xfrm flipH="1" rot="10800000">
            <a:off x="1739675" y="4233400"/>
            <a:ext cx="5766600" cy="25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/>
          <p:nvPr/>
        </p:nvCxnSpPr>
        <p:spPr>
          <a:xfrm rot="10800000">
            <a:off x="1722575" y="1199800"/>
            <a:ext cx="17100" cy="30594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 txBox="1"/>
          <p:nvPr/>
        </p:nvSpPr>
        <p:spPr>
          <a:xfrm rot="-5400000">
            <a:off x="8550" y="2399525"/>
            <a:ext cx="2339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Reaction time (s)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241550" y="4319150"/>
            <a:ext cx="840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Age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399550" y="27680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2551950" y="29204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2858600" y="24903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061550" y="226542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3163400" y="175795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460075" y="23274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482000" y="16109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4023375" y="14480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5161325" y="12851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5407550" y="1551150"/>
            <a:ext cx="3462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Assumption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RT = B0 + B1 Age + error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 flipH="1" rot="10800000">
            <a:off x="1611125" y="925575"/>
            <a:ext cx="3590700" cy="26052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</a:t>
            </a:r>
            <a:endParaRPr/>
          </a:p>
        </p:txBody>
      </p:sp>
      <p:cxnSp>
        <p:nvCxnSpPr>
          <p:cNvPr id="95" name="Google Shape;95;p16"/>
          <p:cNvCxnSpPr/>
          <p:nvPr/>
        </p:nvCxnSpPr>
        <p:spPr>
          <a:xfrm flipH="1" rot="10800000">
            <a:off x="1739675" y="4233400"/>
            <a:ext cx="5766600" cy="25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6"/>
          <p:cNvCxnSpPr/>
          <p:nvPr/>
        </p:nvCxnSpPr>
        <p:spPr>
          <a:xfrm rot="10800000">
            <a:off x="1722575" y="1199800"/>
            <a:ext cx="17100" cy="30594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6"/>
          <p:cNvSpPr txBox="1"/>
          <p:nvPr/>
        </p:nvSpPr>
        <p:spPr>
          <a:xfrm rot="-5400000">
            <a:off x="8550" y="2399525"/>
            <a:ext cx="2339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Reaction time (s)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241550" y="4319150"/>
            <a:ext cx="840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Age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2399550" y="27680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551950" y="29204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2858600" y="24903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4061550" y="226542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3163400" y="175795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3460075" y="23274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4482000" y="16109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4023375" y="14480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161325" y="12851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5407550" y="1551150"/>
            <a:ext cx="3462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How do you find the “best” line?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9" name="Google Shape;109;p16"/>
          <p:cNvCxnSpPr/>
          <p:nvPr/>
        </p:nvCxnSpPr>
        <p:spPr>
          <a:xfrm flipH="1" rot="10800000">
            <a:off x="1611125" y="1011375"/>
            <a:ext cx="3659400" cy="2519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/>
          <p:nvPr/>
        </p:nvCxnSpPr>
        <p:spPr>
          <a:xfrm flipH="1" rot="10800000">
            <a:off x="1636825" y="1259675"/>
            <a:ext cx="3882000" cy="22368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6"/>
          <p:cNvCxnSpPr/>
          <p:nvPr/>
        </p:nvCxnSpPr>
        <p:spPr>
          <a:xfrm flipH="1" rot="10800000">
            <a:off x="2013900" y="891125"/>
            <a:ext cx="3068100" cy="27339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</a:t>
            </a:r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 flipH="1" rot="10800000">
            <a:off x="1739675" y="4233400"/>
            <a:ext cx="5766600" cy="25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7"/>
          <p:cNvCxnSpPr/>
          <p:nvPr/>
        </p:nvCxnSpPr>
        <p:spPr>
          <a:xfrm rot="10800000">
            <a:off x="1722575" y="1199800"/>
            <a:ext cx="17100" cy="30594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7"/>
          <p:cNvSpPr txBox="1"/>
          <p:nvPr/>
        </p:nvSpPr>
        <p:spPr>
          <a:xfrm rot="-5400000">
            <a:off x="8550" y="2399525"/>
            <a:ext cx="2339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Reaction time (s)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241550" y="4319150"/>
            <a:ext cx="840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Age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2399550" y="27680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551950" y="29204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2858600" y="24903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061550" y="226542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3163400" y="175795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3460075" y="23274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482000" y="16109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023375" y="14480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161325" y="12851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407550" y="1551150"/>
            <a:ext cx="3462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Start by defining “best”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1" name="Google Shape;131;p17"/>
          <p:cNvCxnSpPr/>
          <p:nvPr/>
        </p:nvCxnSpPr>
        <p:spPr>
          <a:xfrm flipH="1" rot="10800000">
            <a:off x="1859650" y="822750"/>
            <a:ext cx="3659400" cy="2519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7"/>
          <p:cNvCxnSpPr/>
          <p:nvPr/>
        </p:nvCxnSpPr>
        <p:spPr>
          <a:xfrm>
            <a:off x="3253400" y="1997050"/>
            <a:ext cx="3000" cy="3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" name="Google Shape;133;p17"/>
          <p:cNvCxnSpPr/>
          <p:nvPr/>
        </p:nvCxnSpPr>
        <p:spPr>
          <a:xfrm>
            <a:off x="4091600" y="1616050"/>
            <a:ext cx="4800" cy="2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7"/>
          <p:cNvCxnSpPr>
            <a:endCxn id="124" idx="0"/>
          </p:cNvCxnSpPr>
          <p:nvPr/>
        </p:nvCxnSpPr>
        <p:spPr>
          <a:xfrm flipH="1">
            <a:off x="4151550" y="1816925"/>
            <a:ext cx="4800" cy="4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7"/>
          <p:cNvCxnSpPr/>
          <p:nvPr/>
        </p:nvCxnSpPr>
        <p:spPr>
          <a:xfrm flipH="1">
            <a:off x="4571400" y="1398575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7"/>
          <p:cNvCxnSpPr/>
          <p:nvPr/>
        </p:nvCxnSpPr>
        <p:spPr>
          <a:xfrm flipH="1">
            <a:off x="5250725" y="1023275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7"/>
          <p:cNvCxnSpPr/>
          <p:nvPr/>
        </p:nvCxnSpPr>
        <p:spPr>
          <a:xfrm>
            <a:off x="2948600" y="2428325"/>
            <a:ext cx="0" cy="1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7"/>
          <p:cNvCxnSpPr/>
          <p:nvPr/>
        </p:nvCxnSpPr>
        <p:spPr>
          <a:xfrm flipH="1">
            <a:off x="3573013" y="2166425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" name="Google Shape;139;p17"/>
          <p:cNvCxnSpPr/>
          <p:nvPr/>
        </p:nvCxnSpPr>
        <p:spPr>
          <a:xfrm flipH="1">
            <a:off x="2641350" y="2768050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" name="Google Shape;140;p17"/>
          <p:cNvSpPr txBox="1"/>
          <p:nvPr/>
        </p:nvSpPr>
        <p:spPr>
          <a:xfrm>
            <a:off x="5424700" y="2322425"/>
            <a:ext cx="30936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Minimize the squared distance between our data and the line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Least Squares Estimate</a:t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Residuals</a:t>
            </a:r>
            <a:endParaRPr/>
          </a:p>
        </p:txBody>
      </p:sp>
      <p:cxnSp>
        <p:nvCxnSpPr>
          <p:cNvPr id="146" name="Google Shape;146;p18"/>
          <p:cNvCxnSpPr/>
          <p:nvPr/>
        </p:nvCxnSpPr>
        <p:spPr>
          <a:xfrm flipH="1" rot="10800000">
            <a:off x="1739675" y="4233400"/>
            <a:ext cx="5766600" cy="25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8"/>
          <p:cNvCxnSpPr/>
          <p:nvPr/>
        </p:nvCxnSpPr>
        <p:spPr>
          <a:xfrm rot="10800000">
            <a:off x="1722575" y="1199800"/>
            <a:ext cx="17100" cy="30594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8"/>
          <p:cNvSpPr txBox="1"/>
          <p:nvPr/>
        </p:nvSpPr>
        <p:spPr>
          <a:xfrm rot="-5400000">
            <a:off x="8550" y="2399525"/>
            <a:ext cx="2339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Reaction time (s)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4241550" y="4319150"/>
            <a:ext cx="840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Age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2399550" y="27680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2551950" y="29204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2858600" y="24903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4061550" y="226542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3163400" y="175795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3460075" y="23274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4482000" y="16109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4023375" y="14480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161325" y="12851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" name="Google Shape;159;p18"/>
          <p:cNvCxnSpPr/>
          <p:nvPr/>
        </p:nvCxnSpPr>
        <p:spPr>
          <a:xfrm flipH="1" rot="10800000">
            <a:off x="1859650" y="822750"/>
            <a:ext cx="3659400" cy="25194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8"/>
          <p:cNvCxnSpPr/>
          <p:nvPr/>
        </p:nvCxnSpPr>
        <p:spPr>
          <a:xfrm>
            <a:off x="3253400" y="1997050"/>
            <a:ext cx="3000" cy="3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" name="Google Shape;161;p18"/>
          <p:cNvCxnSpPr/>
          <p:nvPr/>
        </p:nvCxnSpPr>
        <p:spPr>
          <a:xfrm>
            <a:off x="4091600" y="1616050"/>
            <a:ext cx="4800" cy="2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" name="Google Shape;162;p18"/>
          <p:cNvCxnSpPr>
            <a:endCxn id="153" idx="0"/>
          </p:cNvCxnSpPr>
          <p:nvPr/>
        </p:nvCxnSpPr>
        <p:spPr>
          <a:xfrm flipH="1">
            <a:off x="4151550" y="1816925"/>
            <a:ext cx="4800" cy="4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" name="Google Shape;163;p18"/>
          <p:cNvCxnSpPr/>
          <p:nvPr/>
        </p:nvCxnSpPr>
        <p:spPr>
          <a:xfrm flipH="1">
            <a:off x="4571400" y="1398575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" name="Google Shape;164;p18"/>
          <p:cNvCxnSpPr/>
          <p:nvPr/>
        </p:nvCxnSpPr>
        <p:spPr>
          <a:xfrm flipH="1">
            <a:off x="5250725" y="1023275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" name="Google Shape;165;p18"/>
          <p:cNvCxnSpPr/>
          <p:nvPr/>
        </p:nvCxnSpPr>
        <p:spPr>
          <a:xfrm>
            <a:off x="2948600" y="2428325"/>
            <a:ext cx="0" cy="19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" name="Google Shape;166;p18"/>
          <p:cNvCxnSpPr/>
          <p:nvPr/>
        </p:nvCxnSpPr>
        <p:spPr>
          <a:xfrm flipH="1">
            <a:off x="3573013" y="2166425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" name="Google Shape;167;p18"/>
          <p:cNvCxnSpPr/>
          <p:nvPr/>
        </p:nvCxnSpPr>
        <p:spPr>
          <a:xfrm flipH="1">
            <a:off x="2641350" y="2768050"/>
            <a:ext cx="1200" cy="26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" name="Google Shape;168;p18"/>
          <p:cNvSpPr txBox="1"/>
          <p:nvPr/>
        </p:nvSpPr>
        <p:spPr>
          <a:xfrm>
            <a:off x="4767125" y="1185125"/>
            <a:ext cx="4241100" cy="22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Open Sans"/>
              <a:buChar char="●"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Gray arrows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Open Sans"/>
              <a:buChar char="●"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Mean is 0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Open Sans"/>
              <a:buChar char="●"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Noise and </a:t>
            </a:r>
            <a:r>
              <a:rPr b="1" lang="en" sz="1900">
                <a:latin typeface="Open Sans"/>
                <a:ea typeface="Open Sans"/>
                <a:cs typeface="Open Sans"/>
                <a:sym typeface="Open Sans"/>
              </a:rPr>
              <a:t>leftover variability</a:t>
            </a: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 your model doesn’t describe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Open Sans"/>
              <a:buChar char="○"/>
            </a:pPr>
            <a:r>
              <a:rPr lang="en" sz="1900">
                <a:latin typeface="Open Sans"/>
                <a:ea typeface="Open Sans"/>
                <a:cs typeface="Open Sans"/>
                <a:sym typeface="Open Sans"/>
              </a:rPr>
              <a:t>Leftover variability will generally hurt you and should be avoided if possible</a:t>
            </a:r>
            <a:endParaRPr sz="1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Focusing on the equation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RT = B0 + B1 Age + e</a:t>
            </a:r>
            <a:endParaRPr/>
          </a:p>
          <a:p>
            <a:pPr indent="-419100" lvl="0" marL="4572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B0: RT when age is 0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B1: For each 1 year increase in age, RT increases by B1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Centering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i="1" lang="en"/>
              <a:t>Often</a:t>
            </a:r>
            <a:r>
              <a:rPr lang="en"/>
              <a:t> regressors are mean centered in regression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i="1" lang="en"/>
              <a:t>Often </a:t>
            </a:r>
            <a:r>
              <a:rPr lang="en"/>
              <a:t>it serves no purpose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 RT = B0 + B1 Age_DM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B0: RT when Age_DM = 0 (mean age)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B1: </a:t>
            </a:r>
            <a:r>
              <a:rPr lang="en"/>
              <a:t>For each 1 year increase in age, RT increases by B1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6B26B"/>
              </a:buClr>
              <a:buSzPts val="3000"/>
              <a:buChar char="●"/>
            </a:pPr>
            <a:r>
              <a:rPr b="1" lang="en">
                <a:solidFill>
                  <a:srgbClr val="F6B26B"/>
                </a:solidFill>
              </a:rPr>
              <a:t>Only changes interpretation of the intercept!</a:t>
            </a:r>
            <a:endParaRPr b="1">
              <a:solidFill>
                <a:srgbClr val="F6B26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21"/>
          <p:cNvCxnSpPr/>
          <p:nvPr/>
        </p:nvCxnSpPr>
        <p:spPr>
          <a:xfrm flipH="1" rot="10800000">
            <a:off x="1739675" y="4233400"/>
            <a:ext cx="5766600" cy="25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1"/>
          <p:cNvCxnSpPr/>
          <p:nvPr/>
        </p:nvCxnSpPr>
        <p:spPr>
          <a:xfrm rot="10800000">
            <a:off x="1722575" y="1199800"/>
            <a:ext cx="17100" cy="30594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1"/>
          <p:cNvSpPr txBox="1"/>
          <p:nvPr/>
        </p:nvSpPr>
        <p:spPr>
          <a:xfrm rot="-5400000">
            <a:off x="8550" y="2399525"/>
            <a:ext cx="2339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Reaction time (s)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241550" y="4319150"/>
            <a:ext cx="840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Age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399550" y="27680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2551950" y="29204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2858600" y="24903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061550" y="226542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3163400" y="175795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3460075" y="23274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4482000" y="16109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023375" y="14480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161325" y="12851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1"/>
          <p:cNvCxnSpPr/>
          <p:nvPr/>
        </p:nvCxnSpPr>
        <p:spPr>
          <a:xfrm flipH="1" rot="10800000">
            <a:off x="1611125" y="925575"/>
            <a:ext cx="3590700" cy="26052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22"/>
          <p:cNvCxnSpPr/>
          <p:nvPr/>
        </p:nvCxnSpPr>
        <p:spPr>
          <a:xfrm flipH="1" rot="10800000">
            <a:off x="1739675" y="4233400"/>
            <a:ext cx="5766600" cy="25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2"/>
          <p:cNvCxnSpPr/>
          <p:nvPr/>
        </p:nvCxnSpPr>
        <p:spPr>
          <a:xfrm rot="10800000">
            <a:off x="3823175" y="1174000"/>
            <a:ext cx="17100" cy="30594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2"/>
          <p:cNvSpPr txBox="1"/>
          <p:nvPr/>
        </p:nvSpPr>
        <p:spPr>
          <a:xfrm rot="-5400000">
            <a:off x="8550" y="2399525"/>
            <a:ext cx="23397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Reaction time (s)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2858600" y="4319150"/>
            <a:ext cx="23028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Open Sans"/>
                <a:ea typeface="Open Sans"/>
                <a:cs typeface="Open Sans"/>
                <a:sym typeface="Open Sans"/>
              </a:rPr>
              <a:t>Age-mean(Age)</a:t>
            </a:r>
            <a:endParaRPr sz="2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2399550" y="27680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2551950" y="2920450"/>
            <a:ext cx="180000" cy="1629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2858600" y="24903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4061550" y="226542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3163400" y="175795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3460075" y="2327400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4482000" y="16109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4023375" y="14480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161325" y="1285175"/>
            <a:ext cx="180000" cy="162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2"/>
          <p:cNvCxnSpPr/>
          <p:nvPr/>
        </p:nvCxnSpPr>
        <p:spPr>
          <a:xfrm flipH="1" rot="10800000">
            <a:off x="1611125" y="925575"/>
            <a:ext cx="3590700" cy="2605200"/>
          </a:xfrm>
          <a:prstGeom prst="straightConnector1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What if I had an error in my code that mean centered age and the mean was actually 10 (instead of 0)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What is the interpretation of the intercept in that model?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of thumb</a:t>
            </a:r>
            <a:endParaRPr/>
          </a:p>
        </p:txBody>
      </p:sp>
      <p:sp>
        <p:nvSpPr>
          <p:cNvPr id="228" name="Google Shape;228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Skip mean centering unless you’re interested in interpreting the intercept in a useful way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than 1 regressor</a:t>
            </a:r>
            <a:endParaRPr/>
          </a:p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want to study the impact of caffeine on RT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But we know Age impacts RT as well….and older people tend to drink less coffee</a:t>
            </a:r>
            <a:r>
              <a:rPr lang="en">
                <a:solidFill>
                  <a:srgbClr val="FF0000"/>
                </a:solidFill>
              </a:rPr>
              <a:t>*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>
                <a:solidFill>
                  <a:srgbClr val="000000"/>
                </a:solidFill>
              </a:rPr>
              <a:t>We need to “adjust” our caffeine effect for age</a:t>
            </a:r>
            <a:endParaRPr>
              <a:solidFill>
                <a:srgbClr val="000000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○"/>
            </a:pPr>
            <a:r>
              <a:rPr lang="en">
                <a:solidFill>
                  <a:srgbClr val="000000"/>
                </a:solidFill>
              </a:rPr>
              <a:t>Remove age effect</a:t>
            </a:r>
            <a:endParaRPr>
              <a:solidFill>
                <a:srgbClr val="000000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○"/>
            </a:pPr>
            <a:r>
              <a:rPr lang="en">
                <a:solidFill>
                  <a:srgbClr val="000000"/>
                </a:solidFill>
              </a:rPr>
              <a:t>Our result for caffeine will reflect the caffeine/RT relationship for a fixed age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396875" y="4687700"/>
            <a:ext cx="76959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en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I made this up, but have noticed as folks get older they cannot tolerate caffeine as well</a:t>
            </a:r>
            <a:endParaRPr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data</a:t>
            </a:r>
            <a:endParaRPr/>
          </a:p>
        </p:txBody>
      </p:sp>
      <p:pic>
        <p:nvPicPr>
          <p:cNvPr id="241" name="Google Shape;2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850" y="1077925"/>
            <a:ext cx="6168449" cy="401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with age effect removed</a:t>
            </a:r>
            <a:endParaRPr/>
          </a:p>
        </p:txBody>
      </p:sp>
      <p:pic>
        <p:nvPicPr>
          <p:cNvPr id="247" name="Google Shape;2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450" y="1104575"/>
            <a:ext cx="6090850" cy="39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~ hand wavy example ~   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(conceptually true)</a:t>
            </a:r>
            <a:endParaRPr sz="3600"/>
          </a:p>
        </p:txBody>
      </p:sp>
      <p:pic>
        <p:nvPicPr>
          <p:cNvPr id="253" name="Google Shape;2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875" y="1117100"/>
            <a:ext cx="5753940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results stack up</a:t>
            </a:r>
            <a:endParaRPr/>
          </a:p>
        </p:txBody>
      </p:sp>
      <p:pic>
        <p:nvPicPr>
          <p:cNvPr id="259" name="Google Shape;2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5625"/>
            <a:ext cx="68484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312150"/>
            <a:ext cx="701040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9"/>
          <p:cNvSpPr/>
          <p:nvPr/>
        </p:nvSpPr>
        <p:spPr>
          <a:xfrm>
            <a:off x="5232100" y="2305750"/>
            <a:ext cx="1715148" cy="663174"/>
          </a:xfrm>
          <a:prstGeom prst="irregularSeal2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9"/>
          <p:cNvSpPr/>
          <p:nvPr/>
        </p:nvSpPr>
        <p:spPr>
          <a:xfrm>
            <a:off x="5481850" y="4021675"/>
            <a:ext cx="1715148" cy="663174"/>
          </a:xfrm>
          <a:prstGeom prst="irregularSeal2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9"/>
          <p:cNvSpPr txBox="1"/>
          <p:nvPr/>
        </p:nvSpPr>
        <p:spPr>
          <a:xfrm>
            <a:off x="7160175" y="2345288"/>
            <a:ext cx="1633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Woo!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7434225" y="4127463"/>
            <a:ext cx="1633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Oh!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“adjustment”</a:t>
            </a:r>
            <a:endParaRPr/>
          </a:p>
        </p:txBody>
      </p:sp>
      <p:sp>
        <p:nvSpPr>
          <p:cNvPr id="270" name="Google Shape;270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“Equates” your subjects according to confounding variables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Sets it so comparisons are within any given age</a:t>
            </a:r>
            <a:endParaRPr/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NOTE:  NOT QUANTILES, that was a conceptual example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Removes age impact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so far</a:t>
            </a:r>
            <a:endParaRPr/>
          </a:p>
        </p:txBody>
      </p:sp>
      <p:sp>
        <p:nvSpPr>
          <p:cNvPr id="276" name="Google Shape;276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Regression models linear relationships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Linear = linear combinations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Obviously you can add a quadratic age term, for example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Adding multiple regressors mean each regressor’s parameter reflects that regressor’s contribution adjusted for the rest of your regressors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remember</a:t>
            </a:r>
            <a:endParaRPr/>
          </a:p>
        </p:txBody>
      </p:sp>
      <p:sp>
        <p:nvSpPr>
          <p:cNvPr id="282" name="Google Shape;282;p32"/>
          <p:cNvSpPr txBox="1"/>
          <p:nvPr>
            <p:ph idx="1" type="body"/>
          </p:nvPr>
        </p:nvSpPr>
        <p:spPr>
          <a:xfrm>
            <a:off x="311700" y="9966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Regression minimizes the sum of squared error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/>
              <a:t>This error pertains to </a:t>
            </a:r>
            <a:r>
              <a:rPr i="1" lang="en"/>
              <a:t>vertical </a:t>
            </a:r>
            <a:r>
              <a:rPr lang="en"/>
              <a:t> distance from the estimated regression line to your data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b="1" lang="en"/>
              <a:t>Least squares</a:t>
            </a:r>
            <a:endParaRPr b="1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Mean centering a regressor is only necessary if you want to make the intercept more interpretable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Adjusting can have a large impact on your parameter of interest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it!</a:t>
            </a:r>
            <a:endParaRPr/>
          </a:p>
        </p:txBody>
      </p:sp>
      <p:sp>
        <p:nvSpPr>
          <p:cNvPr id="288" name="Google Shape;288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